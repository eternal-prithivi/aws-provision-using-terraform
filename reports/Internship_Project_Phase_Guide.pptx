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4732020"/>
            <a:ext cx="3047695" cy="411480"/>
          </a:xfrm>
          <a:prstGeom prst="rect">
            <a:avLst/>
          </a:prstGeom>
          <a:solidFill>
            <a:srgbClr val="3B82F6"/>
          </a:solidFill>
          <a:ln w="12700">
            <a:solidFill>
              <a:srgbClr val="3B82F6"/>
            </a:solidFill>
            <a:prstDash val="solid"/>
          </a:ln>
        </p:spPr>
      </p:sp>
      <p:sp>
        <p:nvSpPr>
          <p:cNvPr id="3" name="Shape 1"/>
          <p:cNvSpPr/>
          <p:nvPr/>
        </p:nvSpPr>
        <p:spPr>
          <a:xfrm>
            <a:off x="3047695" y="4732020"/>
            <a:ext cx="3047695" cy="411480"/>
          </a:xfrm>
          <a:prstGeom prst="rect">
            <a:avLst/>
          </a:prstGeom>
          <a:solidFill>
            <a:srgbClr val="10B981"/>
          </a:solidFill>
          <a:ln w="12700">
            <a:solidFill>
              <a:srgbClr val="10B981"/>
            </a:solidFill>
            <a:prstDash val="solid"/>
          </a:ln>
        </p:spPr>
      </p:sp>
      <p:sp>
        <p:nvSpPr>
          <p:cNvPr id="4" name="Shape 2"/>
          <p:cNvSpPr/>
          <p:nvPr/>
        </p:nvSpPr>
        <p:spPr>
          <a:xfrm>
            <a:off x="6096305" y="4732020"/>
            <a:ext cx="3047695" cy="411480"/>
          </a:xfrm>
          <a:prstGeom prst="rect">
            <a:avLst/>
          </a:prstGeom>
          <a:solidFill>
            <a:srgbClr val="F59E0B"/>
          </a:solidFill>
          <a:ln w="12700">
            <a:solidFill>
              <a:srgbClr val="F59E0B"/>
            </a:solidFill>
            <a:prstDash val="solid"/>
          </a:ln>
        </p:spPr>
      </p:sp>
      <p:sp>
        <p:nvSpPr>
          <p:cNvPr id="5" name="Text 3"/>
          <p:cNvSpPr/>
          <p:nvPr/>
        </p:nvSpPr>
        <p:spPr>
          <a:xfrm>
            <a:off x="0" y="4732020"/>
            <a:ext cx="3047695" cy="411480"/>
          </a:xfrm>
          <a:prstGeom prst="rect">
            <a:avLst/>
          </a:prstGeom>
          <a:noFill/>
          <a:ln/>
        </p:spPr>
        <p:txBody>
          <a:bodyPr wrap="square" lIns="0" tIns="0" rIns="0" bIns="0" rtlCol="0" anchor="ctr"/>
          <a:lstStyle/>
          <a:p>
            <a:pPr algn="ctr" indent="0" marL="0">
              <a:buNone/>
            </a:pPr>
            <a:r>
              <a:rPr lang="en-US" sz="1000" b="1" spc="150" kern="0" dirty="0">
                <a:solidFill>
                  <a:srgbClr val="0D1117"/>
                </a:solidFill>
                <a:latin typeface="Calibri" pitchFamily="34" charset="0"/>
                <a:ea typeface="Calibri" pitchFamily="34" charset="-122"/>
                <a:cs typeface="Calibri" pitchFamily="34" charset="-120"/>
              </a:rPr>
              <a:t>PHASE 01  ·  BLUEPRINT</a:t>
            </a:r>
            <a:endParaRPr lang="en-US" sz="1000" dirty="0"/>
          </a:p>
        </p:txBody>
      </p:sp>
      <p:sp>
        <p:nvSpPr>
          <p:cNvPr id="6" name="Text 4"/>
          <p:cNvSpPr/>
          <p:nvPr/>
        </p:nvSpPr>
        <p:spPr>
          <a:xfrm>
            <a:off x="3047695" y="4732020"/>
            <a:ext cx="3047695" cy="411480"/>
          </a:xfrm>
          <a:prstGeom prst="rect">
            <a:avLst/>
          </a:prstGeom>
          <a:noFill/>
          <a:ln/>
        </p:spPr>
        <p:txBody>
          <a:bodyPr wrap="square" lIns="0" tIns="0" rIns="0" bIns="0" rtlCol="0" anchor="ctr"/>
          <a:lstStyle/>
          <a:p>
            <a:pPr algn="ctr" indent="0" marL="0">
              <a:buNone/>
            </a:pPr>
            <a:r>
              <a:rPr lang="en-US" sz="1000" b="1" spc="150" kern="0" dirty="0">
                <a:solidFill>
                  <a:srgbClr val="0D1117"/>
                </a:solidFill>
                <a:latin typeface="Calibri" pitchFamily="34" charset="0"/>
                <a:ea typeface="Calibri" pitchFamily="34" charset="-122"/>
                <a:cs typeface="Calibri" pitchFamily="34" charset="-120"/>
              </a:rPr>
              <a:t>PHASE 02  ·  BUILD</a:t>
            </a:r>
            <a:endParaRPr lang="en-US" sz="1000" dirty="0"/>
          </a:p>
        </p:txBody>
      </p:sp>
      <p:sp>
        <p:nvSpPr>
          <p:cNvPr id="7" name="Text 5"/>
          <p:cNvSpPr/>
          <p:nvPr/>
        </p:nvSpPr>
        <p:spPr>
          <a:xfrm>
            <a:off x="6096305" y="4732020"/>
            <a:ext cx="3047695" cy="411480"/>
          </a:xfrm>
          <a:prstGeom prst="rect">
            <a:avLst/>
          </a:prstGeom>
          <a:noFill/>
          <a:ln/>
        </p:spPr>
        <p:txBody>
          <a:bodyPr wrap="square" lIns="0" tIns="0" rIns="0" bIns="0" rtlCol="0" anchor="ctr"/>
          <a:lstStyle/>
          <a:p>
            <a:pPr algn="ctr" indent="0" marL="0">
              <a:buNone/>
            </a:pPr>
            <a:r>
              <a:rPr lang="en-US" sz="1000" b="1" spc="150" kern="0" dirty="0">
                <a:solidFill>
                  <a:srgbClr val="0D1117"/>
                </a:solidFill>
                <a:latin typeface="Calibri" pitchFamily="34" charset="0"/>
                <a:ea typeface="Calibri" pitchFamily="34" charset="-122"/>
                <a:cs typeface="Calibri" pitchFamily="34" charset="-120"/>
              </a:rPr>
              <a:t>PHASE 03  ·  PRESENT</a:t>
            </a:r>
            <a:endParaRPr lang="en-US" sz="1000" dirty="0"/>
          </a:p>
        </p:txBody>
      </p:sp>
      <p:sp>
        <p:nvSpPr>
          <p:cNvPr id="8" name="Shape 6"/>
          <p:cNvSpPr/>
          <p:nvPr/>
        </p:nvSpPr>
        <p:spPr>
          <a:xfrm>
            <a:off x="502920" y="502920"/>
            <a:ext cx="2194560" cy="310896"/>
          </a:xfrm>
          <a:prstGeom prst="rect">
            <a:avLst/>
          </a:prstGeom>
          <a:solidFill>
            <a:srgbClr val="1C2333"/>
          </a:solidFill>
          <a:ln w="12700">
            <a:solidFill>
              <a:srgbClr val="30363D"/>
            </a:solidFill>
            <a:prstDash val="solid"/>
          </a:ln>
        </p:spPr>
      </p:sp>
      <p:sp>
        <p:nvSpPr>
          <p:cNvPr id="9" name="Text 7"/>
          <p:cNvSpPr/>
          <p:nvPr/>
        </p:nvSpPr>
        <p:spPr>
          <a:xfrm>
            <a:off x="502920" y="502920"/>
            <a:ext cx="2194560" cy="310896"/>
          </a:xfrm>
          <a:prstGeom prst="rect">
            <a:avLst/>
          </a:prstGeom>
          <a:noFill/>
          <a:ln/>
        </p:spPr>
        <p:txBody>
          <a:bodyPr wrap="square" lIns="0" tIns="0" rIns="0" bIns="0" rtlCol="0" anchor="ctr"/>
          <a:lstStyle/>
          <a:p>
            <a:pPr algn="ctr" indent="0" marL="0">
              <a:buNone/>
            </a:pPr>
            <a:r>
              <a:rPr lang="en-US" sz="850" b="1" spc="200" kern="0" dirty="0">
                <a:solidFill>
                  <a:srgbClr val="8B949E"/>
                </a:solidFill>
                <a:latin typeface="Calibri" pitchFamily="34" charset="0"/>
                <a:ea typeface="Calibri" pitchFamily="34" charset="-122"/>
                <a:cs typeface="Calibri" pitchFamily="34" charset="-120"/>
              </a:rPr>
              <a:t>ROOMAN TECHNOLOGIES</a:t>
            </a:r>
            <a:endParaRPr lang="en-US" sz="850" dirty="0"/>
          </a:p>
        </p:txBody>
      </p:sp>
      <p:sp>
        <p:nvSpPr>
          <p:cNvPr id="10" name="Text 8"/>
          <p:cNvSpPr/>
          <p:nvPr/>
        </p:nvSpPr>
        <p:spPr>
          <a:xfrm>
            <a:off x="502920" y="1005840"/>
            <a:ext cx="8229600" cy="2011680"/>
          </a:xfrm>
          <a:prstGeom prst="rect">
            <a:avLst/>
          </a:prstGeom>
          <a:noFill/>
          <a:ln/>
        </p:spPr>
        <p:txBody>
          <a:bodyPr wrap="square" lIns="0" tIns="0" rIns="0" bIns="0" rtlCol="0" anchor="t"/>
          <a:lstStyle/>
          <a:p>
            <a:pPr algn="l" indent="0" marL="0">
              <a:buNone/>
            </a:pPr>
            <a:r>
              <a:rPr lang="en-US" sz="6200" b="1" dirty="0">
                <a:solidFill>
                  <a:srgbClr val="FFFFFF"/>
                </a:solidFill>
                <a:latin typeface="Calibri" pitchFamily="34" charset="0"/>
                <a:ea typeface="Calibri" pitchFamily="34" charset="-122"/>
                <a:cs typeface="Calibri" pitchFamily="34" charset="-120"/>
              </a:rPr>
              <a:t>Internship</a:t>
            </a:r>
            <a:endParaRPr lang="en-US" sz="6200" dirty="0"/>
          </a:p>
          <a:p>
            <a:pPr algn="l" indent="0" marL="0">
              <a:buNone/>
            </a:pPr>
            <a:r>
              <a:rPr lang="en-US" sz="6200" b="1" dirty="0">
                <a:solidFill>
                  <a:srgbClr val="FFFFFF"/>
                </a:solidFill>
                <a:latin typeface="Calibri" pitchFamily="34" charset="0"/>
                <a:ea typeface="Calibri" pitchFamily="34" charset="-122"/>
                <a:cs typeface="Calibri" pitchFamily="34" charset="-120"/>
              </a:rPr>
              <a:t>Project Phases</a:t>
            </a:r>
            <a:endParaRPr lang="en-US" sz="6200" dirty="0"/>
          </a:p>
        </p:txBody>
      </p:sp>
      <p:sp>
        <p:nvSpPr>
          <p:cNvPr id="11" name="Text 9"/>
          <p:cNvSpPr/>
          <p:nvPr/>
        </p:nvSpPr>
        <p:spPr>
          <a:xfrm>
            <a:off x="502920" y="3127248"/>
            <a:ext cx="8229600" cy="384048"/>
          </a:xfrm>
          <a:prstGeom prst="rect">
            <a:avLst/>
          </a:prstGeom>
          <a:noFill/>
          <a:ln/>
        </p:spPr>
        <p:txBody>
          <a:bodyPr wrap="square" lIns="0" tIns="0" rIns="0" bIns="0" rtlCol="0" anchor="ctr"/>
          <a:lstStyle/>
          <a:p>
            <a:pPr algn="l" indent="0" marL="0">
              <a:buNone/>
            </a:pPr>
            <a:r>
              <a:rPr lang="en-US" sz="1700" dirty="0">
                <a:solidFill>
                  <a:srgbClr val="8B949E"/>
                </a:solidFill>
                <a:latin typeface="Calibri" pitchFamily="34" charset="0"/>
                <a:ea typeface="Calibri" pitchFamily="34" charset="-122"/>
                <a:cs typeface="Calibri" pitchFamily="34" charset="-120"/>
              </a:rPr>
              <a:t>3 Phases  ·  3 Weeks  ·  1 Portfolio-Ready Outcome</a:t>
            </a:r>
            <a:endParaRPr lang="en-US" sz="1700" dirty="0"/>
          </a:p>
        </p:txBody>
      </p:sp>
      <p:sp>
        <p:nvSpPr>
          <p:cNvPr id="12" name="Shape 10"/>
          <p:cNvSpPr/>
          <p:nvPr/>
        </p:nvSpPr>
        <p:spPr>
          <a:xfrm>
            <a:off x="502920" y="3694176"/>
            <a:ext cx="2377440" cy="640080"/>
          </a:xfrm>
          <a:prstGeom prst="rect">
            <a:avLst/>
          </a:prstGeom>
          <a:solidFill>
            <a:srgbClr val="1C2333"/>
          </a:solidFill>
          <a:ln w="19050">
            <a:solidFill>
              <a:srgbClr val="3B82F6"/>
            </a:solidFill>
            <a:prstDash val="solid"/>
          </a:ln>
        </p:spPr>
      </p:sp>
      <p:sp>
        <p:nvSpPr>
          <p:cNvPr id="13" name="Text 11"/>
          <p:cNvSpPr/>
          <p:nvPr/>
        </p:nvSpPr>
        <p:spPr>
          <a:xfrm>
            <a:off x="502920" y="3694176"/>
            <a:ext cx="2377440" cy="640080"/>
          </a:xfrm>
          <a:prstGeom prst="rect">
            <a:avLst/>
          </a:prstGeom>
          <a:noFill/>
          <a:ln/>
        </p:spPr>
        <p:txBody>
          <a:bodyPr wrap="square" lIns="0" tIns="0" rIns="0" bIns="0"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Phase 1  —  Blueprint</a:t>
            </a:r>
            <a:endParaRPr lang="en-US" sz="1300" dirty="0"/>
          </a:p>
        </p:txBody>
      </p:sp>
      <p:sp>
        <p:nvSpPr>
          <p:cNvPr id="14" name="Shape 12"/>
          <p:cNvSpPr/>
          <p:nvPr/>
        </p:nvSpPr>
        <p:spPr>
          <a:xfrm>
            <a:off x="3154680" y="3694176"/>
            <a:ext cx="2377440" cy="640080"/>
          </a:xfrm>
          <a:prstGeom prst="rect">
            <a:avLst/>
          </a:prstGeom>
          <a:solidFill>
            <a:srgbClr val="1C2333"/>
          </a:solidFill>
          <a:ln w="19050">
            <a:solidFill>
              <a:srgbClr val="10B981"/>
            </a:solidFill>
            <a:prstDash val="solid"/>
          </a:ln>
        </p:spPr>
      </p:sp>
      <p:sp>
        <p:nvSpPr>
          <p:cNvPr id="15" name="Text 13"/>
          <p:cNvSpPr/>
          <p:nvPr/>
        </p:nvSpPr>
        <p:spPr>
          <a:xfrm>
            <a:off x="3154680" y="3694176"/>
            <a:ext cx="2377440" cy="640080"/>
          </a:xfrm>
          <a:prstGeom prst="rect">
            <a:avLst/>
          </a:prstGeom>
          <a:noFill/>
          <a:ln/>
        </p:spPr>
        <p:txBody>
          <a:bodyPr wrap="square" lIns="0" tIns="0" rIns="0" bIns="0" rtlCol="0" anchor="ctr"/>
          <a:lstStyle/>
          <a:p>
            <a:pPr algn="ctr" indent="0" marL="0">
              <a:buNone/>
            </a:pPr>
            <a:r>
              <a:rPr lang="en-US" sz="1300" b="1" dirty="0">
                <a:solidFill>
                  <a:srgbClr val="10B981"/>
                </a:solidFill>
                <a:latin typeface="Calibri" pitchFamily="34" charset="0"/>
                <a:ea typeface="Calibri" pitchFamily="34" charset="-122"/>
                <a:cs typeface="Calibri" pitchFamily="34" charset="-120"/>
              </a:rPr>
              <a:t>Phase 2  —  Build</a:t>
            </a:r>
            <a:endParaRPr lang="en-US" sz="1300" dirty="0"/>
          </a:p>
        </p:txBody>
      </p:sp>
      <p:sp>
        <p:nvSpPr>
          <p:cNvPr id="16" name="Shape 14"/>
          <p:cNvSpPr/>
          <p:nvPr/>
        </p:nvSpPr>
        <p:spPr>
          <a:xfrm>
            <a:off x="5806440" y="3694176"/>
            <a:ext cx="2377440" cy="640080"/>
          </a:xfrm>
          <a:prstGeom prst="rect">
            <a:avLst/>
          </a:prstGeom>
          <a:solidFill>
            <a:srgbClr val="1C2333"/>
          </a:solidFill>
          <a:ln w="19050">
            <a:solidFill>
              <a:srgbClr val="F59E0B"/>
            </a:solidFill>
            <a:prstDash val="solid"/>
          </a:ln>
        </p:spPr>
      </p:sp>
      <p:sp>
        <p:nvSpPr>
          <p:cNvPr id="17" name="Text 15"/>
          <p:cNvSpPr/>
          <p:nvPr/>
        </p:nvSpPr>
        <p:spPr>
          <a:xfrm>
            <a:off x="5806440" y="3694176"/>
            <a:ext cx="2377440" cy="64008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Phase 3  —  Present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02920" y="365760"/>
            <a:ext cx="8138160" cy="566928"/>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The Three-Phase Journey</a:t>
            </a:r>
            <a:endParaRPr lang="en-US" sz="3800" dirty="0"/>
          </a:p>
        </p:txBody>
      </p:sp>
      <p:sp>
        <p:nvSpPr>
          <p:cNvPr id="3" name="Text 1"/>
          <p:cNvSpPr/>
          <p:nvPr/>
        </p:nvSpPr>
        <p:spPr>
          <a:xfrm>
            <a:off x="502920" y="950976"/>
            <a:ext cx="8138160" cy="347472"/>
          </a:xfrm>
          <a:prstGeom prst="rect">
            <a:avLst/>
          </a:prstGeom>
          <a:noFill/>
          <a:ln/>
        </p:spPr>
        <p:txBody>
          <a:bodyPr wrap="square" lIns="0" tIns="0" rIns="0" bIns="0" rtlCol="0" anchor="ctr"/>
          <a:lstStyle/>
          <a:p>
            <a:pPr indent="0" marL="0">
              <a:buNone/>
            </a:pPr>
            <a:r>
              <a:rPr lang="en-US" sz="1500" dirty="0">
                <a:solidFill>
                  <a:srgbClr val="8B949E"/>
                </a:solidFill>
                <a:latin typeface="Calibri" pitchFamily="34" charset="0"/>
                <a:ea typeface="Calibri" pitchFamily="34" charset="-122"/>
                <a:cs typeface="Calibri" pitchFamily="34" charset="-120"/>
              </a:rPr>
              <a:t>From trained intern to industry-ready professional — in three deliberate weeks.</a:t>
            </a:r>
            <a:endParaRPr lang="en-US" sz="1500" dirty="0"/>
          </a:p>
        </p:txBody>
      </p:sp>
      <p:sp>
        <p:nvSpPr>
          <p:cNvPr id="4" name="Shape 2"/>
          <p:cNvSpPr/>
          <p:nvPr/>
        </p:nvSpPr>
        <p:spPr>
          <a:xfrm>
            <a:off x="411480" y="1508760"/>
            <a:ext cx="2633472" cy="3310128"/>
          </a:xfrm>
          <a:prstGeom prst="rect">
            <a:avLst/>
          </a:prstGeom>
          <a:solidFill>
            <a:srgbClr val="1C2333"/>
          </a:solidFill>
          <a:ln w="19050">
            <a:solidFill>
              <a:srgbClr val="3B82F6"/>
            </a:solidFill>
            <a:prstDash val="solid"/>
          </a:ln>
          <a:effectLst>
            <a:outerShdw sx="100000" sy="100000" kx="0" ky="0" algn="bl" rotWithShape="0" blurRad="152400" dist="25400" dir="8100000">
              <a:srgbClr val="000000">
                <a:alpha val="35000"/>
              </a:srgbClr>
            </a:outerShdw>
          </a:effectLst>
        </p:spPr>
      </p:sp>
      <p:sp>
        <p:nvSpPr>
          <p:cNvPr id="5" name="Shape 3"/>
          <p:cNvSpPr/>
          <p:nvPr/>
        </p:nvSpPr>
        <p:spPr>
          <a:xfrm>
            <a:off x="612648" y="1691640"/>
            <a:ext cx="640080" cy="640080"/>
          </a:xfrm>
          <a:prstGeom prst="ellipse">
            <a:avLst/>
          </a:prstGeom>
          <a:solidFill>
            <a:srgbClr val="3B82F6"/>
          </a:solidFill>
          <a:ln w="12700">
            <a:solidFill>
              <a:srgbClr val="3B82F6"/>
            </a:solidFill>
            <a:prstDash val="solid"/>
          </a:ln>
        </p:spPr>
      </p:sp>
      <p:sp>
        <p:nvSpPr>
          <p:cNvPr id="6" name="Text 4"/>
          <p:cNvSpPr/>
          <p:nvPr/>
        </p:nvSpPr>
        <p:spPr>
          <a:xfrm>
            <a:off x="612648" y="1691640"/>
            <a:ext cx="640080" cy="640080"/>
          </a:xfrm>
          <a:prstGeom prst="rect">
            <a:avLst/>
          </a:prstGeom>
          <a:noFill/>
          <a:ln/>
        </p:spPr>
        <p:txBody>
          <a:bodyPr wrap="square" lIns="0" tIns="0" rIns="0" bIns="0" rtlCol="0" anchor="ctr"/>
          <a:lstStyle/>
          <a:p>
            <a:pPr algn="ctr" indent="0" marL="0">
              <a:buNone/>
            </a:pPr>
            <a:r>
              <a:rPr lang="en-US" sz="1500" b="1" dirty="0">
                <a:solidFill>
                  <a:srgbClr val="0D1117"/>
                </a:solidFill>
              </a:rPr>
              <a:t>01</a:t>
            </a:r>
            <a:endParaRPr lang="en-US" sz="1500" dirty="0"/>
          </a:p>
        </p:txBody>
      </p:sp>
      <p:sp>
        <p:nvSpPr>
          <p:cNvPr id="7" name="Text 5"/>
          <p:cNvSpPr/>
          <p:nvPr/>
        </p:nvSpPr>
        <p:spPr>
          <a:xfrm>
            <a:off x="1380744" y="1737360"/>
            <a:ext cx="1536192" cy="329184"/>
          </a:xfrm>
          <a:prstGeom prst="rect">
            <a:avLst/>
          </a:prstGeom>
          <a:noFill/>
          <a:ln/>
        </p:spPr>
        <p:txBody>
          <a:bodyPr wrap="square" lIns="0" tIns="0" rIns="0" bIns="0" rtlCol="0" anchor="ctr"/>
          <a:lstStyle/>
          <a:p>
            <a:pPr indent="0" marL="0">
              <a:buNone/>
            </a:pPr>
            <a:r>
              <a:rPr lang="en-US" sz="1800" b="1" dirty="0">
                <a:solidFill>
                  <a:srgbClr val="3B82F6"/>
                </a:solidFill>
                <a:latin typeface="Calibri" pitchFamily="34" charset="0"/>
                <a:ea typeface="Calibri" pitchFamily="34" charset="-122"/>
                <a:cs typeface="Calibri" pitchFamily="34" charset="-120"/>
              </a:rPr>
              <a:t>BLUEPRINT</a:t>
            </a:r>
            <a:endParaRPr lang="en-US" sz="1800" dirty="0"/>
          </a:p>
        </p:txBody>
      </p:sp>
      <p:sp>
        <p:nvSpPr>
          <p:cNvPr id="8" name="Text 6"/>
          <p:cNvSpPr/>
          <p:nvPr/>
        </p:nvSpPr>
        <p:spPr>
          <a:xfrm>
            <a:off x="1380744" y="2084832"/>
            <a:ext cx="1536192"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Week 1 of Project Phase</a:t>
            </a:r>
            <a:endParaRPr lang="en-US" sz="1000" dirty="0"/>
          </a:p>
        </p:txBody>
      </p:sp>
      <p:sp>
        <p:nvSpPr>
          <p:cNvPr id="9" name="Shape 7"/>
          <p:cNvSpPr/>
          <p:nvPr/>
        </p:nvSpPr>
        <p:spPr>
          <a:xfrm>
            <a:off x="594360" y="2487168"/>
            <a:ext cx="2267712" cy="0"/>
          </a:xfrm>
          <a:prstGeom prst="line">
            <a:avLst/>
          </a:prstGeom>
          <a:noFill/>
          <a:ln w="12700">
            <a:solidFill>
              <a:srgbClr val="30363D"/>
            </a:solidFill>
            <a:prstDash val="solid"/>
          </a:ln>
        </p:spPr>
      </p:sp>
      <p:sp>
        <p:nvSpPr>
          <p:cNvPr id="10" name="Text 8"/>
          <p:cNvSpPr/>
          <p:nvPr/>
        </p:nvSpPr>
        <p:spPr>
          <a:xfrm>
            <a:off x="594360" y="2596896"/>
            <a:ext cx="2286000" cy="31089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Plan before you build.</a:t>
            </a:r>
            <a:endParaRPr lang="en-US" sz="1250" dirty="0"/>
          </a:p>
        </p:txBody>
      </p:sp>
      <p:sp>
        <p:nvSpPr>
          <p:cNvPr id="11" name="Shape 9"/>
          <p:cNvSpPr/>
          <p:nvPr/>
        </p:nvSpPr>
        <p:spPr>
          <a:xfrm>
            <a:off x="594360" y="3090672"/>
            <a:ext cx="91440" cy="219456"/>
          </a:xfrm>
          <a:prstGeom prst="rect">
            <a:avLst/>
          </a:prstGeom>
          <a:solidFill>
            <a:srgbClr val="3B82F6"/>
          </a:solidFill>
          <a:ln w="12700">
            <a:solidFill>
              <a:srgbClr val="3B82F6"/>
            </a:solidFill>
            <a:prstDash val="solid"/>
          </a:ln>
        </p:spPr>
      </p:sp>
      <p:sp>
        <p:nvSpPr>
          <p:cNvPr id="12" name="Text 10"/>
          <p:cNvSpPr/>
          <p:nvPr/>
        </p:nvSpPr>
        <p:spPr>
          <a:xfrm>
            <a:off x="777240" y="2999232"/>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Define the problem</a:t>
            </a:r>
            <a:endParaRPr lang="en-US" sz="1200" dirty="0"/>
          </a:p>
        </p:txBody>
      </p:sp>
      <p:sp>
        <p:nvSpPr>
          <p:cNvPr id="13" name="Shape 11"/>
          <p:cNvSpPr/>
          <p:nvPr/>
        </p:nvSpPr>
        <p:spPr>
          <a:xfrm>
            <a:off x="594360" y="3493008"/>
            <a:ext cx="91440" cy="219456"/>
          </a:xfrm>
          <a:prstGeom prst="rect">
            <a:avLst/>
          </a:prstGeom>
          <a:solidFill>
            <a:srgbClr val="3B82F6"/>
          </a:solidFill>
          <a:ln w="12700">
            <a:solidFill>
              <a:srgbClr val="3B82F6"/>
            </a:solidFill>
            <a:prstDash val="solid"/>
          </a:ln>
        </p:spPr>
      </p:sp>
      <p:sp>
        <p:nvSpPr>
          <p:cNvPr id="14" name="Text 12"/>
          <p:cNvSpPr/>
          <p:nvPr/>
        </p:nvSpPr>
        <p:spPr>
          <a:xfrm>
            <a:off x="777240" y="3401568"/>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Design the solution</a:t>
            </a:r>
            <a:endParaRPr lang="en-US" sz="1200" dirty="0"/>
          </a:p>
        </p:txBody>
      </p:sp>
      <p:sp>
        <p:nvSpPr>
          <p:cNvPr id="15" name="Shape 13"/>
          <p:cNvSpPr/>
          <p:nvPr/>
        </p:nvSpPr>
        <p:spPr>
          <a:xfrm>
            <a:off x="594360" y="3895344"/>
            <a:ext cx="91440" cy="219456"/>
          </a:xfrm>
          <a:prstGeom prst="rect">
            <a:avLst/>
          </a:prstGeom>
          <a:solidFill>
            <a:srgbClr val="3B82F6"/>
          </a:solidFill>
          <a:ln w="12700">
            <a:solidFill>
              <a:srgbClr val="3B82F6"/>
            </a:solidFill>
            <a:prstDash val="solid"/>
          </a:ln>
        </p:spPr>
      </p:sp>
      <p:sp>
        <p:nvSpPr>
          <p:cNvPr id="16" name="Text 14"/>
          <p:cNvSpPr/>
          <p:nvPr/>
        </p:nvSpPr>
        <p:spPr>
          <a:xfrm>
            <a:off x="777240" y="3803904"/>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Get trainer approval</a:t>
            </a:r>
            <a:endParaRPr lang="en-US" sz="1200" dirty="0"/>
          </a:p>
        </p:txBody>
      </p:sp>
      <p:sp>
        <p:nvSpPr>
          <p:cNvPr id="17" name="Shape 15"/>
          <p:cNvSpPr/>
          <p:nvPr/>
        </p:nvSpPr>
        <p:spPr>
          <a:xfrm>
            <a:off x="594360" y="4297680"/>
            <a:ext cx="91440" cy="219456"/>
          </a:xfrm>
          <a:prstGeom prst="rect">
            <a:avLst/>
          </a:prstGeom>
          <a:solidFill>
            <a:srgbClr val="3B82F6"/>
          </a:solidFill>
          <a:ln w="12700">
            <a:solidFill>
              <a:srgbClr val="3B82F6"/>
            </a:solidFill>
            <a:prstDash val="solid"/>
          </a:ln>
        </p:spPr>
      </p:sp>
      <p:sp>
        <p:nvSpPr>
          <p:cNvPr id="18" name="Text 16"/>
          <p:cNvSpPr/>
          <p:nvPr/>
        </p:nvSpPr>
        <p:spPr>
          <a:xfrm>
            <a:off x="777240" y="4206240"/>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No building until planned</a:t>
            </a:r>
            <a:endParaRPr lang="en-US" sz="1200" dirty="0"/>
          </a:p>
        </p:txBody>
      </p:sp>
      <p:sp>
        <p:nvSpPr>
          <p:cNvPr id="19" name="Shape 17"/>
          <p:cNvSpPr/>
          <p:nvPr/>
        </p:nvSpPr>
        <p:spPr>
          <a:xfrm>
            <a:off x="3264408" y="1508760"/>
            <a:ext cx="2633472" cy="3310128"/>
          </a:xfrm>
          <a:prstGeom prst="rect">
            <a:avLst/>
          </a:prstGeom>
          <a:solidFill>
            <a:srgbClr val="1C2333"/>
          </a:solidFill>
          <a:ln w="19050">
            <a:solidFill>
              <a:srgbClr val="10B981"/>
            </a:solidFill>
            <a:prstDash val="solid"/>
          </a:ln>
          <a:effectLst>
            <a:outerShdw sx="100000" sy="100000" kx="0" ky="0" algn="bl" rotWithShape="0" blurRad="152400" dist="25400" dir="8100000">
              <a:srgbClr val="000000">
                <a:alpha val="35000"/>
              </a:srgbClr>
            </a:outerShdw>
          </a:effectLst>
        </p:spPr>
      </p:sp>
      <p:sp>
        <p:nvSpPr>
          <p:cNvPr id="20" name="Shape 18"/>
          <p:cNvSpPr/>
          <p:nvPr/>
        </p:nvSpPr>
        <p:spPr>
          <a:xfrm>
            <a:off x="3465576" y="1691640"/>
            <a:ext cx="640080" cy="640080"/>
          </a:xfrm>
          <a:prstGeom prst="ellipse">
            <a:avLst/>
          </a:prstGeom>
          <a:solidFill>
            <a:srgbClr val="10B981"/>
          </a:solidFill>
          <a:ln w="12700">
            <a:solidFill>
              <a:srgbClr val="10B981"/>
            </a:solidFill>
            <a:prstDash val="solid"/>
          </a:ln>
        </p:spPr>
      </p:sp>
      <p:sp>
        <p:nvSpPr>
          <p:cNvPr id="21" name="Text 19"/>
          <p:cNvSpPr/>
          <p:nvPr/>
        </p:nvSpPr>
        <p:spPr>
          <a:xfrm>
            <a:off x="3465576" y="1691640"/>
            <a:ext cx="640080" cy="640080"/>
          </a:xfrm>
          <a:prstGeom prst="rect">
            <a:avLst/>
          </a:prstGeom>
          <a:noFill/>
          <a:ln/>
        </p:spPr>
        <p:txBody>
          <a:bodyPr wrap="square" lIns="0" tIns="0" rIns="0" bIns="0" rtlCol="0" anchor="ctr"/>
          <a:lstStyle/>
          <a:p>
            <a:pPr algn="ctr" indent="0" marL="0">
              <a:buNone/>
            </a:pPr>
            <a:r>
              <a:rPr lang="en-US" sz="1500" b="1" dirty="0">
                <a:solidFill>
                  <a:srgbClr val="0D1117"/>
                </a:solidFill>
              </a:rPr>
              <a:t>02</a:t>
            </a:r>
            <a:endParaRPr lang="en-US" sz="1500" dirty="0"/>
          </a:p>
        </p:txBody>
      </p:sp>
      <p:sp>
        <p:nvSpPr>
          <p:cNvPr id="22" name="Text 20"/>
          <p:cNvSpPr/>
          <p:nvPr/>
        </p:nvSpPr>
        <p:spPr>
          <a:xfrm>
            <a:off x="4233672" y="1737360"/>
            <a:ext cx="1536192" cy="329184"/>
          </a:xfrm>
          <a:prstGeom prst="rect">
            <a:avLst/>
          </a:prstGeom>
          <a:noFill/>
          <a:ln/>
        </p:spPr>
        <p:txBody>
          <a:bodyPr wrap="square" lIns="0" tIns="0" rIns="0" bIns="0" rtlCol="0" anchor="ctr"/>
          <a:lstStyle/>
          <a:p>
            <a:pPr indent="0" marL="0">
              <a:buNone/>
            </a:pPr>
            <a:r>
              <a:rPr lang="en-US" sz="1800" b="1" dirty="0">
                <a:solidFill>
                  <a:srgbClr val="10B981"/>
                </a:solidFill>
                <a:latin typeface="Calibri" pitchFamily="34" charset="0"/>
                <a:ea typeface="Calibri" pitchFamily="34" charset="-122"/>
                <a:cs typeface="Calibri" pitchFamily="34" charset="-120"/>
              </a:rPr>
              <a:t>BUILD</a:t>
            </a:r>
            <a:endParaRPr lang="en-US" sz="1800" dirty="0"/>
          </a:p>
        </p:txBody>
      </p:sp>
      <p:sp>
        <p:nvSpPr>
          <p:cNvPr id="23" name="Text 21"/>
          <p:cNvSpPr/>
          <p:nvPr/>
        </p:nvSpPr>
        <p:spPr>
          <a:xfrm>
            <a:off x="4233672" y="2084832"/>
            <a:ext cx="1536192"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Week 2 of Project Phase</a:t>
            </a:r>
            <a:endParaRPr lang="en-US" sz="1000" dirty="0"/>
          </a:p>
        </p:txBody>
      </p:sp>
      <p:sp>
        <p:nvSpPr>
          <p:cNvPr id="24" name="Shape 22"/>
          <p:cNvSpPr/>
          <p:nvPr/>
        </p:nvSpPr>
        <p:spPr>
          <a:xfrm>
            <a:off x="3447288" y="2487168"/>
            <a:ext cx="2267712" cy="0"/>
          </a:xfrm>
          <a:prstGeom prst="line">
            <a:avLst/>
          </a:prstGeom>
          <a:noFill/>
          <a:ln w="12700">
            <a:solidFill>
              <a:srgbClr val="30363D"/>
            </a:solidFill>
            <a:prstDash val="solid"/>
          </a:ln>
        </p:spPr>
      </p:sp>
      <p:sp>
        <p:nvSpPr>
          <p:cNvPr id="25" name="Text 23"/>
          <p:cNvSpPr/>
          <p:nvPr/>
        </p:nvSpPr>
        <p:spPr>
          <a:xfrm>
            <a:off x="3447288" y="2596896"/>
            <a:ext cx="2286000" cy="31089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Execute every day.</a:t>
            </a:r>
            <a:endParaRPr lang="en-US" sz="1250" dirty="0"/>
          </a:p>
        </p:txBody>
      </p:sp>
      <p:sp>
        <p:nvSpPr>
          <p:cNvPr id="26" name="Shape 24"/>
          <p:cNvSpPr/>
          <p:nvPr/>
        </p:nvSpPr>
        <p:spPr>
          <a:xfrm>
            <a:off x="3447288" y="3090672"/>
            <a:ext cx="91440" cy="219456"/>
          </a:xfrm>
          <a:prstGeom prst="rect">
            <a:avLst/>
          </a:prstGeom>
          <a:solidFill>
            <a:srgbClr val="10B981"/>
          </a:solidFill>
          <a:ln w="12700">
            <a:solidFill>
              <a:srgbClr val="10B981"/>
            </a:solidFill>
            <a:prstDash val="solid"/>
          </a:ln>
        </p:spPr>
      </p:sp>
      <p:sp>
        <p:nvSpPr>
          <p:cNvPr id="27" name="Text 25"/>
          <p:cNvSpPr/>
          <p:nvPr/>
        </p:nvSpPr>
        <p:spPr>
          <a:xfrm>
            <a:off x="3630168" y="2999232"/>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Daily standup &amp; log</a:t>
            </a:r>
            <a:endParaRPr lang="en-US" sz="1200" dirty="0"/>
          </a:p>
        </p:txBody>
      </p:sp>
      <p:sp>
        <p:nvSpPr>
          <p:cNvPr id="28" name="Shape 26"/>
          <p:cNvSpPr/>
          <p:nvPr/>
        </p:nvSpPr>
        <p:spPr>
          <a:xfrm>
            <a:off x="3447288" y="3493008"/>
            <a:ext cx="91440" cy="219456"/>
          </a:xfrm>
          <a:prstGeom prst="rect">
            <a:avLst/>
          </a:prstGeom>
          <a:solidFill>
            <a:srgbClr val="10B981"/>
          </a:solidFill>
          <a:ln w="12700">
            <a:solidFill>
              <a:srgbClr val="10B981"/>
            </a:solidFill>
            <a:prstDash val="solid"/>
          </a:ln>
        </p:spPr>
      </p:sp>
      <p:sp>
        <p:nvSpPr>
          <p:cNvPr id="29" name="Text 27"/>
          <p:cNvSpPr/>
          <p:nvPr/>
        </p:nvSpPr>
        <p:spPr>
          <a:xfrm>
            <a:off x="3630168" y="3401568"/>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Build something every day</a:t>
            </a:r>
            <a:endParaRPr lang="en-US" sz="1200" dirty="0"/>
          </a:p>
        </p:txBody>
      </p:sp>
      <p:sp>
        <p:nvSpPr>
          <p:cNvPr id="30" name="Shape 28"/>
          <p:cNvSpPr/>
          <p:nvPr/>
        </p:nvSpPr>
        <p:spPr>
          <a:xfrm>
            <a:off x="3447288" y="3895344"/>
            <a:ext cx="91440" cy="219456"/>
          </a:xfrm>
          <a:prstGeom prst="rect">
            <a:avLst/>
          </a:prstGeom>
          <a:solidFill>
            <a:srgbClr val="10B981"/>
          </a:solidFill>
          <a:ln w="12700">
            <a:solidFill>
              <a:srgbClr val="10B981"/>
            </a:solidFill>
            <a:prstDash val="solid"/>
          </a:ln>
        </p:spPr>
      </p:sp>
      <p:sp>
        <p:nvSpPr>
          <p:cNvPr id="31" name="Text 29"/>
          <p:cNvSpPr/>
          <p:nvPr/>
        </p:nvSpPr>
        <p:spPr>
          <a:xfrm>
            <a:off x="3630168" y="3803904"/>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Mid-sprint review on Day 3</a:t>
            </a:r>
            <a:endParaRPr lang="en-US" sz="1200" dirty="0"/>
          </a:p>
        </p:txBody>
      </p:sp>
      <p:sp>
        <p:nvSpPr>
          <p:cNvPr id="32" name="Shape 30"/>
          <p:cNvSpPr/>
          <p:nvPr/>
        </p:nvSpPr>
        <p:spPr>
          <a:xfrm>
            <a:off x="3447288" y="4297680"/>
            <a:ext cx="91440" cy="219456"/>
          </a:xfrm>
          <a:prstGeom prst="rect">
            <a:avLst/>
          </a:prstGeom>
          <a:solidFill>
            <a:srgbClr val="10B981"/>
          </a:solidFill>
          <a:ln w="12700">
            <a:solidFill>
              <a:srgbClr val="10B981"/>
            </a:solidFill>
            <a:prstDash val="solid"/>
          </a:ln>
        </p:spPr>
      </p:sp>
      <p:sp>
        <p:nvSpPr>
          <p:cNvPr id="33" name="Text 31"/>
          <p:cNvSpPr/>
          <p:nvPr/>
        </p:nvSpPr>
        <p:spPr>
          <a:xfrm>
            <a:off x="3630168" y="4206240"/>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Push work at end of each day</a:t>
            </a:r>
            <a:endParaRPr lang="en-US" sz="1200" dirty="0"/>
          </a:p>
        </p:txBody>
      </p:sp>
      <p:sp>
        <p:nvSpPr>
          <p:cNvPr id="34" name="Shape 32"/>
          <p:cNvSpPr/>
          <p:nvPr/>
        </p:nvSpPr>
        <p:spPr>
          <a:xfrm>
            <a:off x="6117336" y="1508760"/>
            <a:ext cx="2633472" cy="3310128"/>
          </a:xfrm>
          <a:prstGeom prst="rect">
            <a:avLst/>
          </a:prstGeom>
          <a:solidFill>
            <a:srgbClr val="1C2333"/>
          </a:solidFill>
          <a:ln w="19050">
            <a:solidFill>
              <a:srgbClr val="F59E0B"/>
            </a:solidFill>
            <a:prstDash val="solid"/>
          </a:ln>
          <a:effectLst>
            <a:outerShdw sx="100000" sy="100000" kx="0" ky="0" algn="bl" rotWithShape="0" blurRad="152400" dist="25400" dir="8100000">
              <a:srgbClr val="000000">
                <a:alpha val="35000"/>
              </a:srgbClr>
            </a:outerShdw>
          </a:effectLst>
        </p:spPr>
      </p:sp>
      <p:sp>
        <p:nvSpPr>
          <p:cNvPr id="35" name="Shape 33"/>
          <p:cNvSpPr/>
          <p:nvPr/>
        </p:nvSpPr>
        <p:spPr>
          <a:xfrm>
            <a:off x="6318504" y="1691640"/>
            <a:ext cx="640080" cy="640080"/>
          </a:xfrm>
          <a:prstGeom prst="ellipse">
            <a:avLst/>
          </a:prstGeom>
          <a:solidFill>
            <a:srgbClr val="F59E0B"/>
          </a:solidFill>
          <a:ln w="12700">
            <a:solidFill>
              <a:srgbClr val="F59E0B"/>
            </a:solidFill>
            <a:prstDash val="solid"/>
          </a:ln>
        </p:spPr>
      </p:sp>
      <p:sp>
        <p:nvSpPr>
          <p:cNvPr id="36" name="Text 34"/>
          <p:cNvSpPr/>
          <p:nvPr/>
        </p:nvSpPr>
        <p:spPr>
          <a:xfrm>
            <a:off x="6318504" y="1691640"/>
            <a:ext cx="640080" cy="640080"/>
          </a:xfrm>
          <a:prstGeom prst="rect">
            <a:avLst/>
          </a:prstGeom>
          <a:noFill/>
          <a:ln/>
        </p:spPr>
        <p:txBody>
          <a:bodyPr wrap="square" lIns="0" tIns="0" rIns="0" bIns="0" rtlCol="0" anchor="ctr"/>
          <a:lstStyle/>
          <a:p>
            <a:pPr algn="ctr" indent="0" marL="0">
              <a:buNone/>
            </a:pPr>
            <a:r>
              <a:rPr lang="en-US" sz="1500" b="1" dirty="0">
                <a:solidFill>
                  <a:srgbClr val="0D1117"/>
                </a:solidFill>
              </a:rPr>
              <a:t>03</a:t>
            </a:r>
            <a:endParaRPr lang="en-US" sz="1500" dirty="0"/>
          </a:p>
        </p:txBody>
      </p:sp>
      <p:sp>
        <p:nvSpPr>
          <p:cNvPr id="37" name="Text 35"/>
          <p:cNvSpPr/>
          <p:nvPr/>
        </p:nvSpPr>
        <p:spPr>
          <a:xfrm>
            <a:off x="7086600" y="1737360"/>
            <a:ext cx="1536192" cy="329184"/>
          </a:xfrm>
          <a:prstGeom prst="rect">
            <a:avLst/>
          </a:prstGeom>
          <a:noFill/>
          <a:ln/>
        </p:spPr>
        <p:txBody>
          <a:bodyPr wrap="square" lIns="0" tIns="0" rIns="0" bIns="0" rtlCol="0" anchor="ctr"/>
          <a:lstStyle/>
          <a:p>
            <a:pPr indent="0" marL="0">
              <a:buNone/>
            </a:pPr>
            <a:r>
              <a:rPr lang="en-US" sz="1800" b="1" dirty="0">
                <a:solidFill>
                  <a:srgbClr val="F59E0B"/>
                </a:solidFill>
                <a:latin typeface="Calibri" pitchFamily="34" charset="0"/>
                <a:ea typeface="Calibri" pitchFamily="34" charset="-122"/>
                <a:cs typeface="Calibri" pitchFamily="34" charset="-120"/>
              </a:rPr>
              <a:t>PRESENT</a:t>
            </a:r>
            <a:endParaRPr lang="en-US" sz="1800" dirty="0"/>
          </a:p>
        </p:txBody>
      </p:sp>
      <p:sp>
        <p:nvSpPr>
          <p:cNvPr id="38" name="Text 36"/>
          <p:cNvSpPr/>
          <p:nvPr/>
        </p:nvSpPr>
        <p:spPr>
          <a:xfrm>
            <a:off x="7086600" y="2084832"/>
            <a:ext cx="1536192" cy="256032"/>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Week 3 of Project Phase</a:t>
            </a:r>
            <a:endParaRPr lang="en-US" sz="1000" dirty="0"/>
          </a:p>
        </p:txBody>
      </p:sp>
      <p:sp>
        <p:nvSpPr>
          <p:cNvPr id="39" name="Shape 37"/>
          <p:cNvSpPr/>
          <p:nvPr/>
        </p:nvSpPr>
        <p:spPr>
          <a:xfrm>
            <a:off x="6300216" y="2487168"/>
            <a:ext cx="2267712" cy="0"/>
          </a:xfrm>
          <a:prstGeom prst="line">
            <a:avLst/>
          </a:prstGeom>
          <a:noFill/>
          <a:ln w="12700">
            <a:solidFill>
              <a:srgbClr val="30363D"/>
            </a:solidFill>
            <a:prstDash val="solid"/>
          </a:ln>
        </p:spPr>
      </p:sp>
      <p:sp>
        <p:nvSpPr>
          <p:cNvPr id="40" name="Text 38"/>
          <p:cNvSpPr/>
          <p:nvPr/>
        </p:nvSpPr>
        <p:spPr>
          <a:xfrm>
            <a:off x="6300216" y="2596896"/>
            <a:ext cx="2286000" cy="310896"/>
          </a:xfrm>
          <a:prstGeom prst="rect">
            <a:avLst/>
          </a:prstGeom>
          <a:noFill/>
          <a:ln/>
        </p:spPr>
        <p:txBody>
          <a:bodyPr wrap="square" lIns="0" tIns="0" rIns="0" bIns="0" rtlCol="0" anchor="ctr"/>
          <a:lstStyle/>
          <a:p>
            <a:pPr indent="0" marL="0">
              <a:buNone/>
            </a:pPr>
            <a:r>
              <a:rPr lang="en-US" sz="1250" b="1" dirty="0">
                <a:solidFill>
                  <a:srgbClr val="E6EDF3"/>
                </a:solidFill>
                <a:latin typeface="Calibri" pitchFamily="34" charset="0"/>
                <a:ea typeface="Calibri" pitchFamily="34" charset="-122"/>
                <a:cs typeface="Calibri" pitchFamily="34" charset="-120"/>
              </a:rPr>
              <a:t>Communicate like a professional.</a:t>
            </a:r>
            <a:endParaRPr lang="en-US" sz="1250" dirty="0"/>
          </a:p>
        </p:txBody>
      </p:sp>
      <p:sp>
        <p:nvSpPr>
          <p:cNvPr id="41" name="Shape 39"/>
          <p:cNvSpPr/>
          <p:nvPr/>
        </p:nvSpPr>
        <p:spPr>
          <a:xfrm>
            <a:off x="6300216" y="3090672"/>
            <a:ext cx="91440" cy="219456"/>
          </a:xfrm>
          <a:prstGeom prst="rect">
            <a:avLst/>
          </a:prstGeom>
          <a:solidFill>
            <a:srgbClr val="F59E0B"/>
          </a:solidFill>
          <a:ln w="12700">
            <a:solidFill>
              <a:srgbClr val="F59E0B"/>
            </a:solidFill>
            <a:prstDash val="solid"/>
          </a:ln>
        </p:spPr>
      </p:sp>
      <p:sp>
        <p:nvSpPr>
          <p:cNvPr id="42" name="Text 40"/>
          <p:cNvSpPr/>
          <p:nvPr/>
        </p:nvSpPr>
        <p:spPr>
          <a:xfrm>
            <a:off x="6483096" y="2999232"/>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Polish the output</a:t>
            </a:r>
            <a:endParaRPr lang="en-US" sz="1200" dirty="0"/>
          </a:p>
        </p:txBody>
      </p:sp>
      <p:sp>
        <p:nvSpPr>
          <p:cNvPr id="43" name="Shape 41"/>
          <p:cNvSpPr/>
          <p:nvPr/>
        </p:nvSpPr>
        <p:spPr>
          <a:xfrm>
            <a:off x="6300216" y="3493008"/>
            <a:ext cx="91440" cy="219456"/>
          </a:xfrm>
          <a:prstGeom prst="rect">
            <a:avLst/>
          </a:prstGeom>
          <a:solidFill>
            <a:srgbClr val="F59E0B"/>
          </a:solidFill>
          <a:ln w="12700">
            <a:solidFill>
              <a:srgbClr val="F59E0B"/>
            </a:solidFill>
            <a:prstDash val="solid"/>
          </a:ln>
        </p:spPr>
      </p:sp>
      <p:sp>
        <p:nvSpPr>
          <p:cNvPr id="44" name="Text 42"/>
          <p:cNvSpPr/>
          <p:nvPr/>
        </p:nvSpPr>
        <p:spPr>
          <a:xfrm>
            <a:off x="6483096" y="3401568"/>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Peer review session</a:t>
            </a:r>
            <a:endParaRPr lang="en-US" sz="1200" dirty="0"/>
          </a:p>
        </p:txBody>
      </p:sp>
      <p:sp>
        <p:nvSpPr>
          <p:cNvPr id="45" name="Shape 43"/>
          <p:cNvSpPr/>
          <p:nvPr/>
        </p:nvSpPr>
        <p:spPr>
          <a:xfrm>
            <a:off x="6300216" y="3895344"/>
            <a:ext cx="91440" cy="219456"/>
          </a:xfrm>
          <a:prstGeom prst="rect">
            <a:avLst/>
          </a:prstGeom>
          <a:solidFill>
            <a:srgbClr val="F59E0B"/>
          </a:solidFill>
          <a:ln w="12700">
            <a:solidFill>
              <a:srgbClr val="F59E0B"/>
            </a:solidFill>
            <a:prstDash val="solid"/>
          </a:ln>
        </p:spPr>
      </p:sp>
      <p:sp>
        <p:nvSpPr>
          <p:cNvPr id="46" name="Text 44"/>
          <p:cNvSpPr/>
          <p:nvPr/>
        </p:nvSpPr>
        <p:spPr>
          <a:xfrm>
            <a:off x="6483096" y="3803904"/>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Incorporate feedback</a:t>
            </a:r>
            <a:endParaRPr lang="en-US" sz="1200" dirty="0"/>
          </a:p>
        </p:txBody>
      </p:sp>
      <p:sp>
        <p:nvSpPr>
          <p:cNvPr id="47" name="Shape 45"/>
          <p:cNvSpPr/>
          <p:nvPr/>
        </p:nvSpPr>
        <p:spPr>
          <a:xfrm>
            <a:off x="6300216" y="4297680"/>
            <a:ext cx="91440" cy="219456"/>
          </a:xfrm>
          <a:prstGeom prst="rect">
            <a:avLst/>
          </a:prstGeom>
          <a:solidFill>
            <a:srgbClr val="F59E0B"/>
          </a:solidFill>
          <a:ln w="12700">
            <a:solidFill>
              <a:srgbClr val="F59E0B"/>
            </a:solidFill>
            <a:prstDash val="solid"/>
          </a:ln>
        </p:spPr>
      </p:sp>
      <p:sp>
        <p:nvSpPr>
          <p:cNvPr id="48" name="Text 46"/>
          <p:cNvSpPr/>
          <p:nvPr/>
        </p:nvSpPr>
        <p:spPr>
          <a:xfrm>
            <a:off x="6483096" y="4206240"/>
            <a:ext cx="2084832"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Final presentation on Day 5</a:t>
            </a:r>
            <a:endParaRPr lang="en-US" sz="1200" dirty="0"/>
          </a:p>
        </p:txBody>
      </p:sp>
      <p:sp>
        <p:nvSpPr>
          <p:cNvPr id="49" name="Text 47"/>
          <p:cNvSpPr/>
          <p:nvPr/>
        </p:nvSpPr>
        <p:spPr>
          <a:xfrm>
            <a:off x="3072384" y="2944368"/>
            <a:ext cx="384048" cy="457200"/>
          </a:xfrm>
          <a:prstGeom prst="rect">
            <a:avLst/>
          </a:prstGeom>
          <a:noFill/>
          <a:ln/>
        </p:spPr>
        <p:txBody>
          <a:bodyPr wrap="square" lIns="0" tIns="0" rIns="0" bIns="0" rtlCol="0" anchor="ctr"/>
          <a:lstStyle/>
          <a:p>
            <a:pPr algn="ctr" indent="0" marL="0">
              <a:buNone/>
            </a:pPr>
            <a:r>
              <a:rPr lang="en-US" sz="2200" b="1" dirty="0">
                <a:solidFill>
                  <a:srgbClr val="484F58"/>
                </a:solidFill>
              </a:rPr>
              <a:t>→</a:t>
            </a:r>
            <a:endParaRPr lang="en-US" sz="2200" dirty="0"/>
          </a:p>
        </p:txBody>
      </p:sp>
      <p:sp>
        <p:nvSpPr>
          <p:cNvPr id="50" name="Text 48"/>
          <p:cNvSpPr/>
          <p:nvPr/>
        </p:nvSpPr>
        <p:spPr>
          <a:xfrm>
            <a:off x="5925312" y="2944368"/>
            <a:ext cx="384048" cy="457200"/>
          </a:xfrm>
          <a:prstGeom prst="rect">
            <a:avLst/>
          </a:prstGeom>
          <a:noFill/>
          <a:ln/>
        </p:spPr>
        <p:txBody>
          <a:bodyPr wrap="square" lIns="0" tIns="0" rIns="0" bIns="0" rtlCol="0" anchor="ctr"/>
          <a:lstStyle/>
          <a:p>
            <a:pPr algn="ctr" indent="0" marL="0">
              <a:buNone/>
            </a:pPr>
            <a:r>
              <a:rPr lang="en-US" sz="2200" b="1" dirty="0">
                <a:solidFill>
                  <a:srgbClr val="484F58"/>
                </a:solidFill>
              </a:rPr>
              <a:t>→</a:t>
            </a:r>
            <a:endParaRPr lang="en-US" sz="2200" dirty="0"/>
          </a:p>
        </p:txBody>
      </p:sp>
      <p:sp>
        <p:nvSpPr>
          <p:cNvPr id="51" name="Text 49"/>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B82F6"/>
        </a:solidFill>
      </p:bgPr>
    </p:bg>
    <p:spTree>
      <p:nvGrpSpPr>
        <p:cNvPr id="1" name=""/>
        <p:cNvGrpSpPr/>
        <p:nvPr/>
      </p:nvGrpSpPr>
      <p:grpSpPr>
        <a:xfrm>
          <a:off x="0" y="0"/>
          <a:ext cx="0" cy="0"/>
          <a:chOff x="0" y="0"/>
          <a:chExt cx="0" cy="0"/>
        </a:xfrm>
      </p:grpSpPr>
      <p:sp>
        <p:nvSpPr>
          <p:cNvPr id="2" name="Text 0"/>
          <p:cNvSpPr/>
          <p:nvPr/>
        </p:nvSpPr>
        <p:spPr>
          <a:xfrm>
            <a:off x="4114800" y="-457200"/>
            <a:ext cx="5486400" cy="6400800"/>
          </a:xfrm>
          <a:prstGeom prst="rect">
            <a:avLst/>
          </a:prstGeom>
          <a:noFill/>
          <a:ln/>
        </p:spPr>
        <p:txBody>
          <a:bodyPr wrap="square" lIns="0" tIns="0" rIns="0" bIns="0" rtlCol="0" anchor="ctr"/>
          <a:lstStyle/>
          <a:p>
            <a:pPr algn="ctr" indent="0" marL="0">
              <a:buNone/>
            </a:pPr>
            <a:r>
              <a:rPr lang="en-US" sz="28000" b="1" dirty="0">
                <a:solidFill>
                  <a:srgbClr val="2563EB">
                    <a:alpha val="30000"/>
                  </a:srgbClr>
                </a:solidFill>
                <a:latin typeface="Calibri" pitchFamily="34" charset="0"/>
                <a:ea typeface="Calibri" pitchFamily="34" charset="-122"/>
                <a:cs typeface="Calibri" pitchFamily="34" charset="-120"/>
              </a:rPr>
              <a:t>01</a:t>
            </a:r>
            <a:endParaRPr lang="en-US" sz="28000" dirty="0"/>
          </a:p>
        </p:txBody>
      </p:sp>
      <p:sp>
        <p:nvSpPr>
          <p:cNvPr id="3" name="Text 1"/>
          <p:cNvSpPr/>
          <p:nvPr/>
        </p:nvSpPr>
        <p:spPr>
          <a:xfrm>
            <a:off x="5029200" y="457200"/>
            <a:ext cx="4114800" cy="4572000"/>
          </a:xfrm>
          <a:prstGeom prst="rect">
            <a:avLst/>
          </a:prstGeom>
          <a:noFill/>
          <a:ln/>
        </p:spPr>
        <p:txBody>
          <a:bodyPr wrap="square" lIns="0" tIns="0" rIns="0" bIns="0" rtlCol="0" anchor="ctr"/>
          <a:lstStyle/>
          <a:p>
            <a:pPr algn="l" indent="0" marL="0">
              <a:buNone/>
            </a:pPr>
            <a:r>
              <a:rPr lang="en-US" sz="26000" b="1" dirty="0">
                <a:solidFill>
                  <a:srgbClr val="2563EB">
                    <a:alpha val="30000"/>
                  </a:srgbClr>
                </a:solidFill>
                <a:latin typeface="Calibri" pitchFamily="34" charset="0"/>
                <a:ea typeface="Calibri" pitchFamily="34" charset="-122"/>
                <a:cs typeface="Calibri" pitchFamily="34" charset="-120"/>
              </a:rPr>
              <a:t>01</a:t>
            </a:r>
            <a:endParaRPr lang="en-US" sz="26000" dirty="0"/>
          </a:p>
        </p:txBody>
      </p:sp>
      <p:sp>
        <p:nvSpPr>
          <p:cNvPr id="4" name="Text 2"/>
          <p:cNvSpPr/>
          <p:nvPr/>
        </p:nvSpPr>
        <p:spPr>
          <a:xfrm>
            <a:off x="502920" y="822960"/>
            <a:ext cx="7315200" cy="457200"/>
          </a:xfrm>
          <a:prstGeom prst="rect">
            <a:avLst/>
          </a:prstGeom>
          <a:noFill/>
          <a:ln/>
        </p:spPr>
        <p:txBody>
          <a:bodyPr wrap="square" lIns="0" tIns="0" rIns="0" bIns="0" rtlCol="0" anchor="ctr"/>
          <a:lstStyle/>
          <a:p>
            <a:pPr indent="0" marL="0">
              <a:buNone/>
            </a:pPr>
            <a:r>
              <a:rPr lang="en-US" sz="1400" b="1" spc="500" kern="0" dirty="0">
                <a:solidFill>
                  <a:srgbClr val="0D1117"/>
                </a:solidFill>
                <a:latin typeface="Calibri" pitchFamily="34" charset="0"/>
                <a:ea typeface="Calibri" pitchFamily="34" charset="-122"/>
                <a:cs typeface="Calibri" pitchFamily="34" charset="-120"/>
              </a:rPr>
              <a:t>PHASE ONE</a:t>
            </a:r>
            <a:endParaRPr lang="en-US" sz="1400" dirty="0"/>
          </a:p>
        </p:txBody>
      </p:sp>
      <p:sp>
        <p:nvSpPr>
          <p:cNvPr id="5" name="Text 3"/>
          <p:cNvSpPr/>
          <p:nvPr/>
        </p:nvSpPr>
        <p:spPr>
          <a:xfrm>
            <a:off x="502920" y="1280160"/>
            <a:ext cx="5943600" cy="1371600"/>
          </a:xfrm>
          <a:prstGeom prst="rect">
            <a:avLst/>
          </a:prstGeom>
          <a:noFill/>
          <a:ln/>
        </p:spPr>
        <p:txBody>
          <a:bodyPr wrap="square" lIns="0" tIns="0" rIns="0" bIns="0" rtlCol="0" anchor="ctr"/>
          <a:lstStyle/>
          <a:p>
            <a:pPr indent="0" marL="0">
              <a:buNone/>
            </a:pPr>
            <a:r>
              <a:rPr lang="en-US" sz="9000" b="1" dirty="0">
                <a:solidFill>
                  <a:srgbClr val="0D1117"/>
                </a:solidFill>
                <a:latin typeface="Calibri" pitchFamily="34" charset="0"/>
                <a:ea typeface="Calibri" pitchFamily="34" charset="-122"/>
                <a:cs typeface="Calibri" pitchFamily="34" charset="-120"/>
              </a:rPr>
              <a:t>Blueprint</a:t>
            </a:r>
            <a:endParaRPr lang="en-US" sz="9000" dirty="0"/>
          </a:p>
        </p:txBody>
      </p:sp>
      <p:sp>
        <p:nvSpPr>
          <p:cNvPr id="6" name="Text 4"/>
          <p:cNvSpPr/>
          <p:nvPr/>
        </p:nvSpPr>
        <p:spPr>
          <a:xfrm>
            <a:off x="502920" y="2788920"/>
            <a:ext cx="6400800" cy="502920"/>
          </a:xfrm>
          <a:prstGeom prst="rect">
            <a:avLst/>
          </a:prstGeom>
          <a:noFill/>
          <a:ln/>
        </p:spPr>
        <p:txBody>
          <a:bodyPr wrap="square" lIns="0" tIns="0" rIns="0" bIns="0" rtlCol="0" anchor="ctr"/>
          <a:lstStyle/>
          <a:p>
            <a:pPr indent="0" marL="0">
              <a:buNone/>
            </a:pPr>
            <a:r>
              <a:rPr lang="en-US" sz="2200" dirty="0">
                <a:solidFill>
                  <a:srgbClr val="0D1117"/>
                </a:solidFill>
                <a:latin typeface="Calibri" pitchFamily="34" charset="0"/>
                <a:ea typeface="Calibri" pitchFamily="34" charset="-122"/>
                <a:cs typeface="Calibri" pitchFamily="34" charset="-120"/>
              </a:rPr>
              <a:t>Plan before you build.</a:t>
            </a:r>
            <a:endParaRPr lang="en-US" sz="2200" dirty="0"/>
          </a:p>
        </p:txBody>
      </p:sp>
      <p:sp>
        <p:nvSpPr>
          <p:cNvPr id="7" name="Text 5"/>
          <p:cNvSpPr/>
          <p:nvPr/>
        </p:nvSpPr>
        <p:spPr>
          <a:xfrm>
            <a:off x="502920" y="3383280"/>
            <a:ext cx="6858000" cy="548640"/>
          </a:xfrm>
          <a:prstGeom prst="rect">
            <a:avLst/>
          </a:prstGeom>
          <a:noFill/>
          <a:ln/>
        </p:spPr>
        <p:txBody>
          <a:bodyPr wrap="square" lIns="0" tIns="0" rIns="0" bIns="0" rtlCol="0" anchor="ctr"/>
          <a:lstStyle/>
          <a:p>
            <a:pPr indent="0" marL="0">
              <a:buNone/>
            </a:pPr>
            <a:r>
              <a:rPr lang="en-US" sz="1500" dirty="0">
                <a:solidFill>
                  <a:srgbClr val="1D4ED8"/>
                </a:solidFill>
                <a:latin typeface="Calibri" pitchFamily="34" charset="0"/>
                <a:ea typeface="Calibri" pitchFamily="34" charset="-122"/>
                <a:cs typeface="Calibri" pitchFamily="34" charset="-120"/>
              </a:rPr>
              <a:t>No code, no output — until the problem is fully understood and the plan is approved.</a:t>
            </a:r>
            <a:endParaRPr lang="en-US" sz="1500" dirty="0"/>
          </a:p>
        </p:txBody>
      </p:sp>
      <p:sp>
        <p:nvSpPr>
          <p:cNvPr id="8" name="Text 6"/>
          <p:cNvSpPr/>
          <p:nvPr/>
        </p:nvSpPr>
        <p:spPr>
          <a:xfrm>
            <a:off x="502920" y="4343400"/>
            <a:ext cx="4572000" cy="320040"/>
          </a:xfrm>
          <a:prstGeom prst="rect">
            <a:avLst/>
          </a:prstGeom>
          <a:noFill/>
          <a:ln/>
        </p:spPr>
        <p:txBody>
          <a:bodyPr wrap="square" lIns="0" tIns="0" rIns="0" bIns="0" rtlCol="0" anchor="ctr"/>
          <a:lstStyle/>
          <a:p>
            <a:pPr indent="0" marL="0">
              <a:buNone/>
            </a:pPr>
            <a:r>
              <a:rPr lang="en-US" sz="1200" dirty="0">
                <a:solidFill>
                  <a:srgbClr val="1D4ED8"/>
                </a:solidFill>
                <a:latin typeface="Calibri" pitchFamily="34" charset="0"/>
                <a:ea typeface="Calibri" pitchFamily="34" charset="-122"/>
                <a:cs typeface="Calibri" pitchFamily="34" charset="-120"/>
              </a:rPr>
              <a:t>Week 1 of Project Phase  ·  5 Days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3B82F6"/>
          </a:solidFill>
          <a:ln w="12700">
            <a:solidFill>
              <a:srgbClr val="3B82F6"/>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01</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What Every Intern Does</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3B82F6"/>
                </a:solidFill>
                <a:latin typeface="Calibri" pitchFamily="34" charset="0"/>
                <a:ea typeface="Calibri" pitchFamily="34" charset="-122"/>
                <a:cs typeface="Calibri" pitchFamily="34" charset="-120"/>
              </a:rPr>
              <a:t>Blueprint — Week 1</a:t>
            </a:r>
            <a:endParaRPr lang="en-US" sz="1400" dirty="0"/>
          </a:p>
        </p:txBody>
      </p:sp>
      <p:sp>
        <p:nvSpPr>
          <p:cNvPr id="6" name="Shape 4"/>
          <p:cNvSpPr/>
          <p:nvPr/>
        </p:nvSpPr>
        <p:spPr>
          <a:xfrm>
            <a:off x="411480" y="1783080"/>
            <a:ext cx="4005072" cy="804672"/>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411480" y="1783080"/>
            <a:ext cx="54864" cy="804672"/>
          </a:xfrm>
          <a:prstGeom prst="rect">
            <a:avLst/>
          </a:prstGeom>
          <a:solidFill>
            <a:srgbClr val="3B82F6"/>
          </a:solidFill>
          <a:ln w="12700">
            <a:solidFill>
              <a:srgbClr val="3B82F6"/>
            </a:solidFill>
            <a:prstDash val="solid"/>
          </a:ln>
        </p:spPr>
      </p:sp>
      <p:sp>
        <p:nvSpPr>
          <p:cNvPr id="8" name="Text 6"/>
          <p:cNvSpPr/>
          <p:nvPr/>
        </p:nvSpPr>
        <p:spPr>
          <a:xfrm>
            <a:off x="594360" y="1874520"/>
            <a:ext cx="3749040" cy="292608"/>
          </a:xfrm>
          <a:prstGeom prst="rect">
            <a:avLst/>
          </a:prstGeom>
          <a:noFill/>
          <a:ln/>
        </p:spPr>
        <p:txBody>
          <a:bodyPr wrap="square" lIns="0" tIns="0" rIns="0" bIns="0" rtlCol="0" anchor="ctr"/>
          <a:lstStyle/>
          <a:p>
            <a:pPr indent="0" marL="0">
              <a:buNone/>
            </a:pPr>
            <a:r>
              <a:rPr lang="en-US" sz="1400" b="1" dirty="0">
                <a:solidFill>
                  <a:srgbClr val="93C5FD"/>
                </a:solidFill>
                <a:latin typeface="Calibri" pitchFamily="34" charset="0"/>
                <a:ea typeface="Calibri" pitchFamily="34" charset="-122"/>
                <a:cs typeface="Calibri" pitchFamily="34" charset="-120"/>
              </a:rPr>
              <a:t>Form Your Team</a:t>
            </a:r>
            <a:endParaRPr lang="en-US" sz="1400" dirty="0"/>
          </a:p>
        </p:txBody>
      </p:sp>
      <p:sp>
        <p:nvSpPr>
          <p:cNvPr id="9" name="Text 7"/>
          <p:cNvSpPr/>
          <p:nvPr/>
        </p:nvSpPr>
        <p:spPr>
          <a:xfrm>
            <a:off x="594360" y="2185416"/>
            <a:ext cx="3749040"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2–3 interns per team or solo. Confirm with your trainer by Day 1 morning.</a:t>
            </a:r>
            <a:endParaRPr lang="en-US" sz="1200" dirty="0"/>
          </a:p>
        </p:txBody>
      </p:sp>
      <p:sp>
        <p:nvSpPr>
          <p:cNvPr id="10" name="Shape 8"/>
          <p:cNvSpPr/>
          <p:nvPr/>
        </p:nvSpPr>
        <p:spPr>
          <a:xfrm>
            <a:off x="4636008" y="1783080"/>
            <a:ext cx="4005072" cy="804672"/>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1" name="Shape 9"/>
          <p:cNvSpPr/>
          <p:nvPr/>
        </p:nvSpPr>
        <p:spPr>
          <a:xfrm>
            <a:off x="4636008" y="1783080"/>
            <a:ext cx="54864" cy="804672"/>
          </a:xfrm>
          <a:prstGeom prst="rect">
            <a:avLst/>
          </a:prstGeom>
          <a:solidFill>
            <a:srgbClr val="3B82F6"/>
          </a:solidFill>
          <a:ln w="12700">
            <a:solidFill>
              <a:srgbClr val="3B82F6"/>
            </a:solidFill>
            <a:prstDash val="solid"/>
          </a:ln>
        </p:spPr>
      </p:sp>
      <p:sp>
        <p:nvSpPr>
          <p:cNvPr id="12" name="Text 10"/>
          <p:cNvSpPr/>
          <p:nvPr/>
        </p:nvSpPr>
        <p:spPr>
          <a:xfrm>
            <a:off x="4818888" y="1874520"/>
            <a:ext cx="3749040" cy="292608"/>
          </a:xfrm>
          <a:prstGeom prst="rect">
            <a:avLst/>
          </a:prstGeom>
          <a:noFill/>
          <a:ln/>
        </p:spPr>
        <p:txBody>
          <a:bodyPr wrap="square" lIns="0" tIns="0" rIns="0" bIns="0" rtlCol="0" anchor="ctr"/>
          <a:lstStyle/>
          <a:p>
            <a:pPr indent="0" marL="0">
              <a:buNone/>
            </a:pPr>
            <a:r>
              <a:rPr lang="en-US" sz="1400" b="1" dirty="0">
                <a:solidFill>
                  <a:srgbClr val="93C5FD"/>
                </a:solidFill>
                <a:latin typeface="Calibri" pitchFamily="34" charset="0"/>
                <a:ea typeface="Calibri" pitchFamily="34" charset="-122"/>
                <a:cs typeface="Calibri" pitchFamily="34" charset="-120"/>
              </a:rPr>
              <a:t>Define the Problem</a:t>
            </a:r>
            <a:endParaRPr lang="en-US" sz="1400" dirty="0"/>
          </a:p>
        </p:txBody>
      </p:sp>
      <p:sp>
        <p:nvSpPr>
          <p:cNvPr id="13" name="Text 11"/>
          <p:cNvSpPr/>
          <p:nvPr/>
        </p:nvSpPr>
        <p:spPr>
          <a:xfrm>
            <a:off x="4818888" y="2185416"/>
            <a:ext cx="3749040"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Write the problem statement in one clear sentence. Who is affected and what goes wrong today?</a:t>
            </a:r>
            <a:endParaRPr lang="en-US" sz="1200" dirty="0"/>
          </a:p>
        </p:txBody>
      </p:sp>
      <p:sp>
        <p:nvSpPr>
          <p:cNvPr id="14" name="Shape 12"/>
          <p:cNvSpPr/>
          <p:nvPr/>
        </p:nvSpPr>
        <p:spPr>
          <a:xfrm>
            <a:off x="411480" y="2734056"/>
            <a:ext cx="4005072" cy="804672"/>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5" name="Shape 13"/>
          <p:cNvSpPr/>
          <p:nvPr/>
        </p:nvSpPr>
        <p:spPr>
          <a:xfrm>
            <a:off x="411480" y="2734056"/>
            <a:ext cx="54864" cy="804672"/>
          </a:xfrm>
          <a:prstGeom prst="rect">
            <a:avLst/>
          </a:prstGeom>
          <a:solidFill>
            <a:srgbClr val="3B82F6"/>
          </a:solidFill>
          <a:ln w="12700">
            <a:solidFill>
              <a:srgbClr val="3B82F6"/>
            </a:solidFill>
            <a:prstDash val="solid"/>
          </a:ln>
        </p:spPr>
      </p:sp>
      <p:sp>
        <p:nvSpPr>
          <p:cNvPr id="16" name="Text 14"/>
          <p:cNvSpPr/>
          <p:nvPr/>
        </p:nvSpPr>
        <p:spPr>
          <a:xfrm>
            <a:off x="594360" y="2825496"/>
            <a:ext cx="3749040" cy="292608"/>
          </a:xfrm>
          <a:prstGeom prst="rect">
            <a:avLst/>
          </a:prstGeom>
          <a:noFill/>
          <a:ln/>
        </p:spPr>
        <p:txBody>
          <a:bodyPr wrap="square" lIns="0" tIns="0" rIns="0" bIns="0" rtlCol="0" anchor="ctr"/>
          <a:lstStyle/>
          <a:p>
            <a:pPr indent="0" marL="0">
              <a:buNone/>
            </a:pPr>
            <a:r>
              <a:rPr lang="en-US" sz="1400" b="1" dirty="0">
                <a:solidFill>
                  <a:srgbClr val="93C5FD"/>
                </a:solidFill>
                <a:latin typeface="Calibri" pitchFamily="34" charset="0"/>
                <a:ea typeface="Calibri" pitchFamily="34" charset="-122"/>
                <a:cs typeface="Calibri" pitchFamily="34" charset="-120"/>
              </a:rPr>
              <a:t>Sketch the Solution</a:t>
            </a:r>
            <a:endParaRPr lang="en-US" sz="1400" dirty="0"/>
          </a:p>
        </p:txBody>
      </p:sp>
      <p:sp>
        <p:nvSpPr>
          <p:cNvPr id="17" name="Text 15"/>
          <p:cNvSpPr/>
          <p:nvPr/>
        </p:nvSpPr>
        <p:spPr>
          <a:xfrm>
            <a:off x="594360" y="3136392"/>
            <a:ext cx="3749040"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Describe your approach — not the code, not the output. The thinking behind it.</a:t>
            </a:r>
            <a:endParaRPr lang="en-US" sz="1200" dirty="0"/>
          </a:p>
        </p:txBody>
      </p:sp>
      <p:sp>
        <p:nvSpPr>
          <p:cNvPr id="18" name="Shape 16"/>
          <p:cNvSpPr/>
          <p:nvPr/>
        </p:nvSpPr>
        <p:spPr>
          <a:xfrm>
            <a:off x="4636008" y="2734056"/>
            <a:ext cx="4005072" cy="804672"/>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9" name="Shape 17"/>
          <p:cNvSpPr/>
          <p:nvPr/>
        </p:nvSpPr>
        <p:spPr>
          <a:xfrm>
            <a:off x="4636008" y="2734056"/>
            <a:ext cx="54864" cy="804672"/>
          </a:xfrm>
          <a:prstGeom prst="rect">
            <a:avLst/>
          </a:prstGeom>
          <a:solidFill>
            <a:srgbClr val="3B82F6"/>
          </a:solidFill>
          <a:ln w="12700">
            <a:solidFill>
              <a:srgbClr val="3B82F6"/>
            </a:solidFill>
            <a:prstDash val="solid"/>
          </a:ln>
        </p:spPr>
      </p:sp>
      <p:sp>
        <p:nvSpPr>
          <p:cNvPr id="20" name="Text 18"/>
          <p:cNvSpPr/>
          <p:nvPr/>
        </p:nvSpPr>
        <p:spPr>
          <a:xfrm>
            <a:off x="4818888" y="2825496"/>
            <a:ext cx="3749040" cy="292608"/>
          </a:xfrm>
          <a:prstGeom prst="rect">
            <a:avLst/>
          </a:prstGeom>
          <a:noFill/>
          <a:ln/>
        </p:spPr>
        <p:txBody>
          <a:bodyPr wrap="square" lIns="0" tIns="0" rIns="0" bIns="0" rtlCol="0" anchor="ctr"/>
          <a:lstStyle/>
          <a:p>
            <a:pPr indent="0" marL="0">
              <a:buNone/>
            </a:pPr>
            <a:r>
              <a:rPr lang="en-US" sz="1400" b="1" dirty="0">
                <a:solidFill>
                  <a:srgbClr val="93C5FD"/>
                </a:solidFill>
                <a:latin typeface="Calibri" pitchFamily="34" charset="0"/>
                <a:ea typeface="Calibri" pitchFamily="34" charset="-122"/>
                <a:cs typeface="Calibri" pitchFamily="34" charset="-120"/>
              </a:rPr>
              <a:t>Confirm Your Stack</a:t>
            </a:r>
            <a:endParaRPr lang="en-US" sz="1400" dirty="0"/>
          </a:p>
        </p:txBody>
      </p:sp>
      <p:sp>
        <p:nvSpPr>
          <p:cNvPr id="21" name="Text 19"/>
          <p:cNvSpPr/>
          <p:nvPr/>
        </p:nvSpPr>
        <p:spPr>
          <a:xfrm>
            <a:off x="4818888" y="3136392"/>
            <a:ext cx="3749040"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List all tools, datasets, APIs, or technologies you will use. Validate that you have access.</a:t>
            </a:r>
            <a:endParaRPr lang="en-US" sz="1200" dirty="0"/>
          </a:p>
        </p:txBody>
      </p:sp>
      <p:sp>
        <p:nvSpPr>
          <p:cNvPr id="22" name="Shape 20"/>
          <p:cNvSpPr/>
          <p:nvPr/>
        </p:nvSpPr>
        <p:spPr>
          <a:xfrm>
            <a:off x="411480" y="3685032"/>
            <a:ext cx="4005072" cy="804672"/>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3" name="Shape 21"/>
          <p:cNvSpPr/>
          <p:nvPr/>
        </p:nvSpPr>
        <p:spPr>
          <a:xfrm>
            <a:off x="411480" y="3685032"/>
            <a:ext cx="54864" cy="804672"/>
          </a:xfrm>
          <a:prstGeom prst="rect">
            <a:avLst/>
          </a:prstGeom>
          <a:solidFill>
            <a:srgbClr val="3B82F6"/>
          </a:solidFill>
          <a:ln w="12700">
            <a:solidFill>
              <a:srgbClr val="3B82F6"/>
            </a:solidFill>
            <a:prstDash val="solid"/>
          </a:ln>
        </p:spPr>
      </p:sp>
      <p:sp>
        <p:nvSpPr>
          <p:cNvPr id="24" name="Text 22"/>
          <p:cNvSpPr/>
          <p:nvPr/>
        </p:nvSpPr>
        <p:spPr>
          <a:xfrm>
            <a:off x="594360" y="3776472"/>
            <a:ext cx="3749040" cy="292608"/>
          </a:xfrm>
          <a:prstGeom prst="rect">
            <a:avLst/>
          </a:prstGeom>
          <a:noFill/>
          <a:ln/>
        </p:spPr>
        <p:txBody>
          <a:bodyPr wrap="square" lIns="0" tIns="0" rIns="0" bIns="0" rtlCol="0" anchor="ctr"/>
          <a:lstStyle/>
          <a:p>
            <a:pPr indent="0" marL="0">
              <a:buNone/>
            </a:pPr>
            <a:r>
              <a:rPr lang="en-US" sz="1400" b="1" dirty="0">
                <a:solidFill>
                  <a:srgbClr val="93C5FD"/>
                </a:solidFill>
                <a:latin typeface="Calibri" pitchFamily="34" charset="0"/>
                <a:ea typeface="Calibri" pitchFamily="34" charset="-122"/>
                <a:cs typeface="Calibri" pitchFamily="34" charset="-120"/>
              </a:rPr>
              <a:t>Set Success Criteria</a:t>
            </a:r>
            <a:endParaRPr lang="en-US" sz="1400" dirty="0"/>
          </a:p>
        </p:txBody>
      </p:sp>
      <p:sp>
        <p:nvSpPr>
          <p:cNvPr id="25" name="Text 23"/>
          <p:cNvSpPr/>
          <p:nvPr/>
        </p:nvSpPr>
        <p:spPr>
          <a:xfrm>
            <a:off x="594360" y="4087368"/>
            <a:ext cx="3749040"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Define 3 measurable outcomes. 'We will know this worked if…' — no vague goals.</a:t>
            </a:r>
            <a:endParaRPr lang="en-US" sz="1200" dirty="0"/>
          </a:p>
        </p:txBody>
      </p:sp>
      <p:sp>
        <p:nvSpPr>
          <p:cNvPr id="26" name="Shape 24"/>
          <p:cNvSpPr/>
          <p:nvPr/>
        </p:nvSpPr>
        <p:spPr>
          <a:xfrm>
            <a:off x="4636008" y="3685032"/>
            <a:ext cx="4005072" cy="804672"/>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7" name="Shape 25"/>
          <p:cNvSpPr/>
          <p:nvPr/>
        </p:nvSpPr>
        <p:spPr>
          <a:xfrm>
            <a:off x="4636008" y="3685032"/>
            <a:ext cx="54864" cy="804672"/>
          </a:xfrm>
          <a:prstGeom prst="rect">
            <a:avLst/>
          </a:prstGeom>
          <a:solidFill>
            <a:srgbClr val="3B82F6"/>
          </a:solidFill>
          <a:ln w="12700">
            <a:solidFill>
              <a:srgbClr val="3B82F6"/>
            </a:solidFill>
            <a:prstDash val="solid"/>
          </a:ln>
        </p:spPr>
      </p:sp>
      <p:sp>
        <p:nvSpPr>
          <p:cNvPr id="28" name="Text 26"/>
          <p:cNvSpPr/>
          <p:nvPr/>
        </p:nvSpPr>
        <p:spPr>
          <a:xfrm>
            <a:off x="4818888" y="3776472"/>
            <a:ext cx="3749040" cy="292608"/>
          </a:xfrm>
          <a:prstGeom prst="rect">
            <a:avLst/>
          </a:prstGeom>
          <a:noFill/>
          <a:ln/>
        </p:spPr>
        <p:txBody>
          <a:bodyPr wrap="square" lIns="0" tIns="0" rIns="0" bIns="0" rtlCol="0" anchor="ctr"/>
          <a:lstStyle/>
          <a:p>
            <a:pPr indent="0" marL="0">
              <a:buNone/>
            </a:pPr>
            <a:r>
              <a:rPr lang="en-US" sz="1400" b="1" dirty="0">
                <a:solidFill>
                  <a:srgbClr val="93C5FD"/>
                </a:solidFill>
                <a:latin typeface="Calibri" pitchFamily="34" charset="0"/>
                <a:ea typeface="Calibri" pitchFamily="34" charset="-122"/>
                <a:cs typeface="Calibri" pitchFamily="34" charset="-120"/>
              </a:rPr>
              <a:t>Build a Day Plan</a:t>
            </a:r>
            <a:endParaRPr lang="en-US" sz="1400" dirty="0"/>
          </a:p>
        </p:txBody>
      </p:sp>
      <p:sp>
        <p:nvSpPr>
          <p:cNvPr id="29" name="Text 27"/>
          <p:cNvSpPr/>
          <p:nvPr/>
        </p:nvSpPr>
        <p:spPr>
          <a:xfrm>
            <a:off x="4818888" y="4087368"/>
            <a:ext cx="3749040" cy="347472"/>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Map out Phases 2 and 3 day by day. What gets done each day to hit the deadline?</a:t>
            </a:r>
            <a:endParaRPr lang="en-US" sz="1200" dirty="0"/>
          </a:p>
        </p:txBody>
      </p:sp>
      <p:sp>
        <p:nvSpPr>
          <p:cNvPr id="30" name="Shape 28"/>
          <p:cNvSpPr/>
          <p:nvPr/>
        </p:nvSpPr>
        <p:spPr>
          <a:xfrm>
            <a:off x="411480" y="4535424"/>
            <a:ext cx="8321040" cy="384048"/>
          </a:xfrm>
          <a:prstGeom prst="rect">
            <a:avLst/>
          </a:prstGeom>
          <a:solidFill>
            <a:srgbClr val="1C2333"/>
          </a:solidFill>
          <a:ln w="12700">
            <a:solidFill>
              <a:srgbClr val="3B82F6"/>
            </a:solidFill>
            <a:prstDash val="solid"/>
          </a:ln>
        </p:spPr>
      </p:sp>
      <p:sp>
        <p:nvSpPr>
          <p:cNvPr id="31" name="Text 29"/>
          <p:cNvSpPr/>
          <p:nvPr/>
        </p:nvSpPr>
        <p:spPr>
          <a:xfrm>
            <a:off x="411480" y="4535424"/>
            <a:ext cx="8321040" cy="384048"/>
          </a:xfrm>
          <a:prstGeom prst="rect">
            <a:avLst/>
          </a:prstGeom>
          <a:noFill/>
          <a:ln/>
        </p:spPr>
        <p:txBody>
          <a:bodyPr wrap="square" lIns="0" tIns="0" rIns="0" bIns="0" rtlCol="0" anchor="ctr"/>
          <a:lstStyle/>
          <a:p>
            <a:pPr algn="ctr" indent="0" marL="0">
              <a:buNone/>
            </a:pPr>
            <a:r>
              <a:rPr lang="en-US" sz="1300" b="1" dirty="0">
                <a:solidFill>
                  <a:srgbClr val="3B82F6"/>
                </a:solidFill>
                <a:latin typeface="Calibri" pitchFamily="34" charset="0"/>
                <a:ea typeface="Calibri" pitchFamily="34" charset="-122"/>
                <a:cs typeface="Calibri" pitchFamily="34" charset="-120"/>
              </a:rPr>
              <a:t>Gate to Phase 2:  Trainer must approve the Blueprint Document before any building begins.</a:t>
            </a:r>
            <a:endParaRPr lang="en-US" sz="1300" dirty="0"/>
          </a:p>
        </p:txBody>
      </p:sp>
      <p:sp>
        <p:nvSpPr>
          <p:cNvPr id="32" name="Text 30"/>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3B82F6"/>
          </a:solidFill>
          <a:ln w="12700">
            <a:solidFill>
              <a:srgbClr val="3B82F6"/>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01</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Domain-Specific Deliverables</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3B82F6"/>
                </a:solidFill>
                <a:latin typeface="Calibri" pitchFamily="34" charset="0"/>
                <a:ea typeface="Calibri" pitchFamily="34" charset="-122"/>
                <a:cs typeface="Calibri" pitchFamily="34" charset="-120"/>
              </a:rPr>
              <a:t>What each track produces before Phase 2 can begin.</a:t>
            </a:r>
            <a:endParaRPr lang="en-US" sz="1400" dirty="0"/>
          </a:p>
        </p:txBody>
      </p:sp>
      <p:sp>
        <p:nvSpPr>
          <p:cNvPr id="6" name="Shape 4"/>
          <p:cNvSpPr/>
          <p:nvPr/>
        </p:nvSpPr>
        <p:spPr>
          <a:xfrm>
            <a:off x="411480" y="1737360"/>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411480" y="1737360"/>
            <a:ext cx="64008" cy="548640"/>
          </a:xfrm>
          <a:prstGeom prst="rect">
            <a:avLst/>
          </a:prstGeom>
          <a:solidFill>
            <a:srgbClr val="3B82F6"/>
          </a:solidFill>
          <a:ln w="12700">
            <a:solidFill>
              <a:srgbClr val="3B82F6"/>
            </a:solidFill>
            <a:prstDash val="solid"/>
          </a:ln>
        </p:spPr>
      </p:sp>
      <p:sp>
        <p:nvSpPr>
          <p:cNvPr id="8" name="Shape 6"/>
          <p:cNvSpPr/>
          <p:nvPr/>
        </p:nvSpPr>
        <p:spPr>
          <a:xfrm>
            <a:off x="548640" y="1828800"/>
            <a:ext cx="1280160" cy="365760"/>
          </a:xfrm>
          <a:prstGeom prst="rect">
            <a:avLst/>
          </a:prstGeom>
          <a:solidFill>
            <a:srgbClr val="000000"/>
          </a:solidFill>
          <a:ln w="12700">
            <a:solidFill>
              <a:srgbClr val="000000"/>
            </a:solidFill>
            <a:prstDash val="solid"/>
          </a:ln>
        </p:spPr>
      </p:sp>
      <p:sp>
        <p:nvSpPr>
          <p:cNvPr id="9" name="Text 7"/>
          <p:cNvSpPr/>
          <p:nvPr/>
        </p:nvSpPr>
        <p:spPr>
          <a:xfrm>
            <a:off x="548640" y="1828800"/>
            <a:ext cx="1280160" cy="36576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IT IGNITE</a:t>
            </a:r>
            <a:endParaRPr lang="en-US" sz="1150" dirty="0"/>
          </a:p>
        </p:txBody>
      </p:sp>
      <p:sp>
        <p:nvSpPr>
          <p:cNvPr id="10" name="Text 8"/>
          <p:cNvSpPr/>
          <p:nvPr/>
        </p:nvSpPr>
        <p:spPr>
          <a:xfrm>
            <a:off x="1975104" y="1828800"/>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Problem brief + tech stack selection + GitHub repo initialised + system sketch or wireframe</a:t>
            </a:r>
            <a:endParaRPr lang="en-US" sz="1250" dirty="0"/>
          </a:p>
        </p:txBody>
      </p:sp>
      <p:sp>
        <p:nvSpPr>
          <p:cNvPr id="11" name="Shape 9"/>
          <p:cNvSpPr/>
          <p:nvPr/>
        </p:nvSpPr>
        <p:spPr>
          <a:xfrm>
            <a:off x="411480" y="239572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2" name="Shape 10"/>
          <p:cNvSpPr/>
          <p:nvPr/>
        </p:nvSpPr>
        <p:spPr>
          <a:xfrm>
            <a:off x="411480" y="2395728"/>
            <a:ext cx="64008" cy="548640"/>
          </a:xfrm>
          <a:prstGeom prst="rect">
            <a:avLst/>
          </a:prstGeom>
          <a:solidFill>
            <a:srgbClr val="10B981"/>
          </a:solidFill>
          <a:ln w="12700">
            <a:solidFill>
              <a:srgbClr val="10B981"/>
            </a:solidFill>
            <a:prstDash val="solid"/>
          </a:ln>
        </p:spPr>
      </p:sp>
      <p:sp>
        <p:nvSpPr>
          <p:cNvPr id="13" name="Shape 11"/>
          <p:cNvSpPr/>
          <p:nvPr/>
        </p:nvSpPr>
        <p:spPr>
          <a:xfrm>
            <a:off x="548640" y="2487168"/>
            <a:ext cx="1280160" cy="365760"/>
          </a:xfrm>
          <a:prstGeom prst="rect">
            <a:avLst/>
          </a:prstGeom>
          <a:solidFill>
            <a:srgbClr val="000000"/>
          </a:solidFill>
          <a:ln w="12700">
            <a:solidFill>
              <a:srgbClr val="000000"/>
            </a:solidFill>
            <a:prstDash val="solid"/>
          </a:ln>
        </p:spPr>
      </p:sp>
      <p:sp>
        <p:nvSpPr>
          <p:cNvPr id="14" name="Text 12"/>
          <p:cNvSpPr/>
          <p:nvPr/>
        </p:nvSpPr>
        <p:spPr>
          <a:xfrm>
            <a:off x="548640" y="2487168"/>
            <a:ext cx="1280160" cy="365760"/>
          </a:xfrm>
          <a:prstGeom prst="rect">
            <a:avLst/>
          </a:prstGeom>
          <a:noFill/>
          <a:ln/>
        </p:spPr>
        <p:txBody>
          <a:bodyPr wrap="square" lIns="0" tIns="0" rIns="0" bIns="0" rtlCol="0" anchor="ctr"/>
          <a:lstStyle/>
          <a:p>
            <a:pPr algn="ctr" indent="0" marL="0">
              <a:buNone/>
            </a:pPr>
            <a:r>
              <a:rPr lang="en-US" sz="1150" b="1" dirty="0">
                <a:solidFill>
                  <a:srgbClr val="10B981"/>
                </a:solidFill>
                <a:latin typeface="Calibri" pitchFamily="34" charset="0"/>
                <a:ea typeface="Calibri" pitchFamily="34" charset="-122"/>
                <a:cs typeface="Calibri" pitchFamily="34" charset="-120"/>
              </a:rPr>
              <a:t>AI / ML</a:t>
            </a:r>
            <a:endParaRPr lang="en-US" sz="1150" dirty="0"/>
          </a:p>
        </p:txBody>
      </p:sp>
      <p:sp>
        <p:nvSpPr>
          <p:cNvPr id="15" name="Text 13"/>
          <p:cNvSpPr/>
          <p:nvPr/>
        </p:nvSpPr>
        <p:spPr>
          <a:xfrm>
            <a:off x="1975104" y="2487168"/>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Use-case defined + dataset sourced + model approach decided + evaluation metric chosen</a:t>
            </a:r>
            <a:endParaRPr lang="en-US" sz="1250" dirty="0"/>
          </a:p>
        </p:txBody>
      </p:sp>
      <p:sp>
        <p:nvSpPr>
          <p:cNvPr id="16" name="Shape 14"/>
          <p:cNvSpPr/>
          <p:nvPr/>
        </p:nvSpPr>
        <p:spPr>
          <a:xfrm>
            <a:off x="411480" y="3054096"/>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7" name="Shape 15"/>
          <p:cNvSpPr/>
          <p:nvPr/>
        </p:nvSpPr>
        <p:spPr>
          <a:xfrm>
            <a:off x="411480" y="3054096"/>
            <a:ext cx="64008" cy="548640"/>
          </a:xfrm>
          <a:prstGeom prst="rect">
            <a:avLst/>
          </a:prstGeom>
          <a:solidFill>
            <a:srgbClr val="F59E0B"/>
          </a:solidFill>
          <a:ln w="12700">
            <a:solidFill>
              <a:srgbClr val="F59E0B"/>
            </a:solidFill>
            <a:prstDash val="solid"/>
          </a:ln>
        </p:spPr>
      </p:sp>
      <p:sp>
        <p:nvSpPr>
          <p:cNvPr id="18" name="Shape 16"/>
          <p:cNvSpPr/>
          <p:nvPr/>
        </p:nvSpPr>
        <p:spPr>
          <a:xfrm>
            <a:off x="548640" y="3145536"/>
            <a:ext cx="1280160" cy="365760"/>
          </a:xfrm>
          <a:prstGeom prst="rect">
            <a:avLst/>
          </a:prstGeom>
          <a:solidFill>
            <a:srgbClr val="000000"/>
          </a:solidFill>
          <a:ln w="12700">
            <a:solidFill>
              <a:srgbClr val="000000"/>
            </a:solidFill>
            <a:prstDash val="solid"/>
          </a:ln>
        </p:spPr>
      </p:sp>
      <p:sp>
        <p:nvSpPr>
          <p:cNvPr id="19" name="Text 17"/>
          <p:cNvSpPr/>
          <p:nvPr/>
        </p:nvSpPr>
        <p:spPr>
          <a:xfrm>
            <a:off x="548640" y="3145536"/>
            <a:ext cx="1280160" cy="365760"/>
          </a:xfrm>
          <a:prstGeom prst="rect">
            <a:avLst/>
          </a:prstGeom>
          <a:no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AI Data Analyst</a:t>
            </a:r>
            <a:endParaRPr lang="en-US" sz="1150" dirty="0"/>
          </a:p>
        </p:txBody>
      </p:sp>
      <p:sp>
        <p:nvSpPr>
          <p:cNvPr id="20" name="Text 18"/>
          <p:cNvSpPr/>
          <p:nvPr/>
        </p:nvSpPr>
        <p:spPr>
          <a:xfrm>
            <a:off x="1975104" y="3145536"/>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Dataset sourced + problem statement + hypothesis written + analysis plan with expected charts</a:t>
            </a:r>
            <a:endParaRPr lang="en-US" sz="1250" dirty="0"/>
          </a:p>
        </p:txBody>
      </p:sp>
      <p:sp>
        <p:nvSpPr>
          <p:cNvPr id="21" name="Shape 19"/>
          <p:cNvSpPr/>
          <p:nvPr/>
        </p:nvSpPr>
        <p:spPr>
          <a:xfrm>
            <a:off x="411480" y="3712464"/>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2" name="Shape 20"/>
          <p:cNvSpPr/>
          <p:nvPr/>
        </p:nvSpPr>
        <p:spPr>
          <a:xfrm>
            <a:off x="411480" y="3712464"/>
            <a:ext cx="64008" cy="548640"/>
          </a:xfrm>
          <a:prstGeom prst="rect">
            <a:avLst/>
          </a:prstGeom>
          <a:solidFill>
            <a:srgbClr val="A855F7"/>
          </a:solidFill>
          <a:ln w="12700">
            <a:solidFill>
              <a:srgbClr val="A855F7"/>
            </a:solidFill>
            <a:prstDash val="solid"/>
          </a:ln>
        </p:spPr>
      </p:sp>
      <p:sp>
        <p:nvSpPr>
          <p:cNvPr id="23" name="Shape 21"/>
          <p:cNvSpPr/>
          <p:nvPr/>
        </p:nvSpPr>
        <p:spPr>
          <a:xfrm>
            <a:off x="548640" y="3803904"/>
            <a:ext cx="1280160" cy="365760"/>
          </a:xfrm>
          <a:prstGeom prst="rect">
            <a:avLst/>
          </a:prstGeom>
          <a:solidFill>
            <a:srgbClr val="000000"/>
          </a:solidFill>
          <a:ln w="12700">
            <a:solidFill>
              <a:srgbClr val="000000"/>
            </a:solidFill>
            <a:prstDash val="solid"/>
          </a:ln>
        </p:spPr>
      </p:sp>
      <p:sp>
        <p:nvSpPr>
          <p:cNvPr id="24" name="Text 22"/>
          <p:cNvSpPr/>
          <p:nvPr/>
        </p:nvSpPr>
        <p:spPr>
          <a:xfrm>
            <a:off x="548640" y="3803904"/>
            <a:ext cx="1280160" cy="365760"/>
          </a:xfrm>
          <a:prstGeom prst="rect">
            <a:avLst/>
          </a:prstGeom>
          <a:noFill/>
          <a:ln/>
        </p:spPr>
        <p:txBody>
          <a:bodyPr wrap="square" lIns="0" tIns="0" rIns="0" bIns="0" rtlCol="0" anchor="ctr"/>
          <a:lstStyle/>
          <a:p>
            <a:pPr algn="ctr" indent="0" marL="0">
              <a:buNone/>
            </a:pPr>
            <a:r>
              <a:rPr lang="en-US" sz="1150" b="1" dirty="0">
                <a:solidFill>
                  <a:srgbClr val="A855F7"/>
                </a:solidFill>
                <a:latin typeface="Calibri" pitchFamily="34" charset="0"/>
                <a:ea typeface="Calibri" pitchFamily="34" charset="-122"/>
                <a:cs typeface="Calibri" pitchFamily="34" charset="-120"/>
              </a:rPr>
              <a:t>Web Dev</a:t>
            </a:r>
            <a:endParaRPr lang="en-US" sz="1150" dirty="0"/>
          </a:p>
        </p:txBody>
      </p:sp>
      <p:sp>
        <p:nvSpPr>
          <p:cNvPr id="25" name="Text 23"/>
          <p:cNvSpPr/>
          <p:nvPr/>
        </p:nvSpPr>
        <p:spPr>
          <a:xfrm>
            <a:off x="1975104" y="3803904"/>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App brief + user stories + architecture diagram + DB schema draft + Figma/Excalidraw wireframe</a:t>
            </a:r>
            <a:endParaRPr lang="en-US" sz="1250" dirty="0"/>
          </a:p>
        </p:txBody>
      </p:sp>
      <p:sp>
        <p:nvSpPr>
          <p:cNvPr id="26" name="Shape 24"/>
          <p:cNvSpPr/>
          <p:nvPr/>
        </p:nvSpPr>
        <p:spPr>
          <a:xfrm>
            <a:off x="411480" y="4370832"/>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7" name="Shape 25"/>
          <p:cNvSpPr/>
          <p:nvPr/>
        </p:nvSpPr>
        <p:spPr>
          <a:xfrm>
            <a:off x="411480" y="4370832"/>
            <a:ext cx="64008" cy="548640"/>
          </a:xfrm>
          <a:prstGeom prst="rect">
            <a:avLst/>
          </a:prstGeom>
          <a:solidFill>
            <a:srgbClr val="06B6D4"/>
          </a:solidFill>
          <a:ln w="12700">
            <a:solidFill>
              <a:srgbClr val="06B6D4"/>
            </a:solidFill>
            <a:prstDash val="solid"/>
          </a:ln>
        </p:spPr>
      </p:sp>
      <p:sp>
        <p:nvSpPr>
          <p:cNvPr id="28" name="Shape 26"/>
          <p:cNvSpPr/>
          <p:nvPr/>
        </p:nvSpPr>
        <p:spPr>
          <a:xfrm>
            <a:off x="548640" y="4462272"/>
            <a:ext cx="1280160" cy="365760"/>
          </a:xfrm>
          <a:prstGeom prst="rect">
            <a:avLst/>
          </a:prstGeom>
          <a:solidFill>
            <a:srgbClr val="000000"/>
          </a:solidFill>
          <a:ln w="12700">
            <a:solidFill>
              <a:srgbClr val="000000"/>
            </a:solidFill>
            <a:prstDash val="solid"/>
          </a:ln>
        </p:spPr>
      </p:sp>
      <p:sp>
        <p:nvSpPr>
          <p:cNvPr id="29" name="Text 27"/>
          <p:cNvSpPr/>
          <p:nvPr/>
        </p:nvSpPr>
        <p:spPr>
          <a:xfrm>
            <a:off x="548640" y="4462272"/>
            <a:ext cx="1280160" cy="365760"/>
          </a:xfrm>
          <a:prstGeom prst="rect">
            <a:avLst/>
          </a:prstGeom>
          <a:noFill/>
          <a:ln/>
        </p:spPr>
        <p:txBody>
          <a:bodyPr wrap="square" lIns="0" tIns="0" rIns="0" bIns="0" rtlCol="0" anchor="ctr"/>
          <a:lstStyle/>
          <a:p>
            <a:pPr algn="ctr" indent="0" marL="0">
              <a:buNone/>
            </a:pPr>
            <a:r>
              <a:rPr lang="en-US" sz="1150" b="1" dirty="0">
                <a:solidFill>
                  <a:srgbClr val="06B6D4"/>
                </a:solidFill>
                <a:latin typeface="Calibri" pitchFamily="34" charset="0"/>
                <a:ea typeface="Calibri" pitchFamily="34" charset="-122"/>
                <a:cs typeface="Calibri" pitchFamily="34" charset="-120"/>
              </a:rPr>
              <a:t>IT-Ops</a:t>
            </a:r>
            <a:endParaRPr lang="en-US" sz="1150" dirty="0"/>
          </a:p>
        </p:txBody>
      </p:sp>
      <p:sp>
        <p:nvSpPr>
          <p:cNvPr id="30" name="Text 28"/>
          <p:cNvSpPr/>
          <p:nvPr/>
        </p:nvSpPr>
        <p:spPr>
          <a:xfrm>
            <a:off x="1975104" y="4462272"/>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Infrastructure problem defined + tool selection (Ansible/Terraform/Prometheus) + architecture diagram</a:t>
            </a:r>
            <a:endParaRPr lang="en-US" sz="1250" dirty="0"/>
          </a:p>
        </p:txBody>
      </p:sp>
      <p:sp>
        <p:nvSpPr>
          <p:cNvPr id="31" name="Shape 29"/>
          <p:cNvSpPr/>
          <p:nvPr/>
        </p:nvSpPr>
        <p:spPr>
          <a:xfrm>
            <a:off x="411480" y="5029200"/>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32" name="Shape 30"/>
          <p:cNvSpPr/>
          <p:nvPr/>
        </p:nvSpPr>
        <p:spPr>
          <a:xfrm>
            <a:off x="411480" y="5029200"/>
            <a:ext cx="64008" cy="548640"/>
          </a:xfrm>
          <a:prstGeom prst="rect">
            <a:avLst/>
          </a:prstGeom>
          <a:solidFill>
            <a:srgbClr val="EF4444"/>
          </a:solidFill>
          <a:ln w="12700">
            <a:solidFill>
              <a:srgbClr val="EF4444"/>
            </a:solidFill>
            <a:prstDash val="solid"/>
          </a:ln>
        </p:spPr>
      </p:sp>
      <p:sp>
        <p:nvSpPr>
          <p:cNvPr id="33" name="Shape 31"/>
          <p:cNvSpPr/>
          <p:nvPr/>
        </p:nvSpPr>
        <p:spPr>
          <a:xfrm>
            <a:off x="548640" y="5120640"/>
            <a:ext cx="1280160" cy="365760"/>
          </a:xfrm>
          <a:prstGeom prst="rect">
            <a:avLst/>
          </a:prstGeom>
          <a:solidFill>
            <a:srgbClr val="000000"/>
          </a:solidFill>
          <a:ln w="12700">
            <a:solidFill>
              <a:srgbClr val="000000"/>
            </a:solidFill>
            <a:prstDash val="solid"/>
          </a:ln>
        </p:spPr>
      </p:sp>
      <p:sp>
        <p:nvSpPr>
          <p:cNvPr id="34" name="Text 32"/>
          <p:cNvSpPr/>
          <p:nvPr/>
        </p:nvSpPr>
        <p:spPr>
          <a:xfrm>
            <a:off x="548640" y="5120640"/>
            <a:ext cx="1280160" cy="365760"/>
          </a:xfrm>
          <a:prstGeom prst="rect">
            <a:avLst/>
          </a:prstGeom>
          <a:noFill/>
          <a:ln/>
        </p:spPr>
        <p:txBody>
          <a:bodyPr wrap="square" lIns="0" tIns="0" rIns="0" bIns="0" rtlCol="0" anchor="ctr"/>
          <a:lstStyle/>
          <a:p>
            <a:pPr algn="ctr" indent="0" marL="0">
              <a:buNone/>
            </a:pPr>
            <a:r>
              <a:rPr lang="en-US" sz="1150" b="1" dirty="0">
                <a:solidFill>
                  <a:srgbClr val="EF4444"/>
                </a:solidFill>
                <a:latin typeface="Calibri" pitchFamily="34" charset="0"/>
                <a:ea typeface="Calibri" pitchFamily="34" charset="-122"/>
                <a:cs typeface="Calibri" pitchFamily="34" charset="-120"/>
              </a:rPr>
              <a:t>CS-EH</a:t>
            </a:r>
            <a:endParaRPr lang="en-US" sz="1150" dirty="0"/>
          </a:p>
        </p:txBody>
      </p:sp>
      <p:sp>
        <p:nvSpPr>
          <p:cNvPr id="35" name="Text 33"/>
          <p:cNvSpPr/>
          <p:nvPr/>
        </p:nvSpPr>
        <p:spPr>
          <a:xfrm>
            <a:off x="1975104" y="5120640"/>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Scope defined + threat model or risk assessment template + tools list + assessment methodology</a:t>
            </a:r>
            <a:endParaRPr lang="en-US" sz="1250" dirty="0"/>
          </a:p>
        </p:txBody>
      </p:sp>
      <p:sp>
        <p:nvSpPr>
          <p:cNvPr id="36" name="Text 34"/>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B981"/>
        </a:solidFill>
      </p:bgPr>
    </p:bg>
    <p:spTree>
      <p:nvGrpSpPr>
        <p:cNvPr id="1" name=""/>
        <p:cNvGrpSpPr/>
        <p:nvPr/>
      </p:nvGrpSpPr>
      <p:grpSpPr>
        <a:xfrm>
          <a:off x="0" y="0"/>
          <a:ext cx="0" cy="0"/>
          <a:chOff x="0" y="0"/>
          <a:chExt cx="0" cy="0"/>
        </a:xfrm>
      </p:grpSpPr>
      <p:sp>
        <p:nvSpPr>
          <p:cNvPr id="2" name="Text 0"/>
          <p:cNvSpPr/>
          <p:nvPr/>
        </p:nvSpPr>
        <p:spPr>
          <a:xfrm>
            <a:off x="4114800" y="-457200"/>
            <a:ext cx="5486400" cy="6400800"/>
          </a:xfrm>
          <a:prstGeom prst="rect">
            <a:avLst/>
          </a:prstGeom>
          <a:noFill/>
          <a:ln/>
        </p:spPr>
        <p:txBody>
          <a:bodyPr wrap="square" lIns="0" tIns="0" rIns="0" bIns="0" rtlCol="0" anchor="ctr"/>
          <a:lstStyle/>
          <a:p>
            <a:pPr algn="ctr" indent="0" marL="0">
              <a:buNone/>
            </a:pPr>
            <a:r>
              <a:rPr lang="en-US" sz="28000" b="1" dirty="0">
                <a:solidFill>
                  <a:srgbClr val="059669">
                    <a:alpha val="30000"/>
                  </a:srgbClr>
                </a:solidFill>
                <a:latin typeface="Calibri" pitchFamily="34" charset="0"/>
                <a:ea typeface="Calibri" pitchFamily="34" charset="-122"/>
                <a:cs typeface="Calibri" pitchFamily="34" charset="-120"/>
              </a:rPr>
              <a:t>02</a:t>
            </a:r>
            <a:endParaRPr lang="en-US" sz="28000" dirty="0"/>
          </a:p>
        </p:txBody>
      </p:sp>
      <p:sp>
        <p:nvSpPr>
          <p:cNvPr id="3" name="Text 1"/>
          <p:cNvSpPr/>
          <p:nvPr/>
        </p:nvSpPr>
        <p:spPr>
          <a:xfrm>
            <a:off x="5029200" y="457200"/>
            <a:ext cx="4114800" cy="4572000"/>
          </a:xfrm>
          <a:prstGeom prst="rect">
            <a:avLst/>
          </a:prstGeom>
          <a:noFill/>
          <a:ln/>
        </p:spPr>
        <p:txBody>
          <a:bodyPr wrap="square" lIns="0" tIns="0" rIns="0" bIns="0" rtlCol="0" anchor="ctr"/>
          <a:lstStyle/>
          <a:p>
            <a:pPr algn="l" indent="0" marL="0">
              <a:buNone/>
            </a:pPr>
            <a:r>
              <a:rPr lang="en-US" sz="26000" b="1" dirty="0">
                <a:solidFill>
                  <a:srgbClr val="059669">
                    <a:alpha val="30000"/>
                  </a:srgbClr>
                </a:solidFill>
                <a:latin typeface="Calibri" pitchFamily="34" charset="0"/>
                <a:ea typeface="Calibri" pitchFamily="34" charset="-122"/>
                <a:cs typeface="Calibri" pitchFamily="34" charset="-120"/>
              </a:rPr>
              <a:t>02</a:t>
            </a:r>
            <a:endParaRPr lang="en-US" sz="26000" dirty="0"/>
          </a:p>
        </p:txBody>
      </p:sp>
      <p:sp>
        <p:nvSpPr>
          <p:cNvPr id="4" name="Text 2"/>
          <p:cNvSpPr/>
          <p:nvPr/>
        </p:nvSpPr>
        <p:spPr>
          <a:xfrm>
            <a:off x="502920" y="822960"/>
            <a:ext cx="7315200" cy="457200"/>
          </a:xfrm>
          <a:prstGeom prst="rect">
            <a:avLst/>
          </a:prstGeom>
          <a:noFill/>
          <a:ln/>
        </p:spPr>
        <p:txBody>
          <a:bodyPr wrap="square" lIns="0" tIns="0" rIns="0" bIns="0" rtlCol="0" anchor="ctr"/>
          <a:lstStyle/>
          <a:p>
            <a:pPr indent="0" marL="0">
              <a:buNone/>
            </a:pPr>
            <a:r>
              <a:rPr lang="en-US" sz="1400" b="1" spc="500" kern="0" dirty="0">
                <a:solidFill>
                  <a:srgbClr val="0D1117"/>
                </a:solidFill>
                <a:latin typeface="Calibri" pitchFamily="34" charset="0"/>
                <a:ea typeface="Calibri" pitchFamily="34" charset="-122"/>
                <a:cs typeface="Calibri" pitchFamily="34" charset="-120"/>
              </a:rPr>
              <a:t>PHASE TWO</a:t>
            </a:r>
            <a:endParaRPr lang="en-US" sz="1400" dirty="0"/>
          </a:p>
        </p:txBody>
      </p:sp>
      <p:sp>
        <p:nvSpPr>
          <p:cNvPr id="5" name="Text 3"/>
          <p:cNvSpPr/>
          <p:nvPr/>
        </p:nvSpPr>
        <p:spPr>
          <a:xfrm>
            <a:off x="502920" y="1280160"/>
            <a:ext cx="5943600" cy="1371600"/>
          </a:xfrm>
          <a:prstGeom prst="rect">
            <a:avLst/>
          </a:prstGeom>
          <a:noFill/>
          <a:ln/>
        </p:spPr>
        <p:txBody>
          <a:bodyPr wrap="square" lIns="0" tIns="0" rIns="0" bIns="0" rtlCol="0" anchor="ctr"/>
          <a:lstStyle/>
          <a:p>
            <a:pPr indent="0" marL="0">
              <a:buNone/>
            </a:pPr>
            <a:r>
              <a:rPr lang="en-US" sz="9000" b="1" dirty="0">
                <a:solidFill>
                  <a:srgbClr val="0D1117"/>
                </a:solidFill>
                <a:latin typeface="Calibri" pitchFamily="34" charset="0"/>
                <a:ea typeface="Calibri" pitchFamily="34" charset="-122"/>
                <a:cs typeface="Calibri" pitchFamily="34" charset="-120"/>
              </a:rPr>
              <a:t>Build</a:t>
            </a:r>
            <a:endParaRPr lang="en-US" sz="9000" dirty="0"/>
          </a:p>
        </p:txBody>
      </p:sp>
      <p:sp>
        <p:nvSpPr>
          <p:cNvPr id="6" name="Text 4"/>
          <p:cNvSpPr/>
          <p:nvPr/>
        </p:nvSpPr>
        <p:spPr>
          <a:xfrm>
            <a:off x="502920" y="2788920"/>
            <a:ext cx="6400800" cy="502920"/>
          </a:xfrm>
          <a:prstGeom prst="rect">
            <a:avLst/>
          </a:prstGeom>
          <a:noFill/>
          <a:ln/>
        </p:spPr>
        <p:txBody>
          <a:bodyPr wrap="square" lIns="0" tIns="0" rIns="0" bIns="0" rtlCol="0" anchor="ctr"/>
          <a:lstStyle/>
          <a:p>
            <a:pPr indent="0" marL="0">
              <a:buNone/>
            </a:pPr>
            <a:r>
              <a:rPr lang="en-US" sz="2200" dirty="0">
                <a:solidFill>
                  <a:srgbClr val="0D1117"/>
                </a:solidFill>
                <a:latin typeface="Calibri" pitchFamily="34" charset="0"/>
                <a:ea typeface="Calibri" pitchFamily="34" charset="-122"/>
                <a:cs typeface="Calibri" pitchFamily="34" charset="-120"/>
              </a:rPr>
              <a:t>Execute every single day.</a:t>
            </a:r>
            <a:endParaRPr lang="en-US" sz="2200" dirty="0"/>
          </a:p>
        </p:txBody>
      </p:sp>
      <p:sp>
        <p:nvSpPr>
          <p:cNvPr id="7" name="Text 5"/>
          <p:cNvSpPr/>
          <p:nvPr/>
        </p:nvSpPr>
        <p:spPr>
          <a:xfrm>
            <a:off x="502920" y="3383280"/>
            <a:ext cx="6858000" cy="548640"/>
          </a:xfrm>
          <a:prstGeom prst="rect">
            <a:avLst/>
          </a:prstGeom>
          <a:noFill/>
          <a:ln/>
        </p:spPr>
        <p:txBody>
          <a:bodyPr wrap="square" lIns="0" tIns="0" rIns="0" bIns="0" rtlCol="0" anchor="ctr"/>
          <a:lstStyle/>
          <a:p>
            <a:pPr indent="0" marL="0">
              <a:buNone/>
            </a:pPr>
            <a:r>
              <a:rPr lang="en-US" sz="1500" dirty="0">
                <a:solidFill>
                  <a:srgbClr val="065F46"/>
                </a:solidFill>
                <a:latin typeface="Calibri" pitchFamily="34" charset="0"/>
                <a:ea typeface="Calibri" pitchFamily="34" charset="-122"/>
                <a:cs typeface="Calibri" pitchFamily="34" charset="-120"/>
              </a:rPr>
              <a:t>Something real must exist at the end of every day — code committed, analysis saved, report updated.</a:t>
            </a:r>
            <a:endParaRPr lang="en-US" sz="1500" dirty="0"/>
          </a:p>
        </p:txBody>
      </p:sp>
      <p:sp>
        <p:nvSpPr>
          <p:cNvPr id="8" name="Text 6"/>
          <p:cNvSpPr/>
          <p:nvPr/>
        </p:nvSpPr>
        <p:spPr>
          <a:xfrm>
            <a:off x="502920" y="4343400"/>
            <a:ext cx="4572000" cy="320040"/>
          </a:xfrm>
          <a:prstGeom prst="rect">
            <a:avLst/>
          </a:prstGeom>
          <a:noFill/>
          <a:ln/>
        </p:spPr>
        <p:txBody>
          <a:bodyPr wrap="square" lIns="0" tIns="0" rIns="0" bIns="0" rtlCol="0" anchor="ctr"/>
          <a:lstStyle/>
          <a:p>
            <a:pPr indent="0" marL="0">
              <a:buNone/>
            </a:pPr>
            <a:r>
              <a:rPr lang="en-US" sz="1200" dirty="0">
                <a:solidFill>
                  <a:srgbClr val="065F46"/>
                </a:solidFill>
                <a:latin typeface="Calibri" pitchFamily="34" charset="0"/>
                <a:ea typeface="Calibri" pitchFamily="34" charset="-122"/>
                <a:cs typeface="Calibri" pitchFamily="34" charset="-120"/>
              </a:rPr>
              <a:t>Week 2 of Project Phase  ·  5 Days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10B981"/>
          </a:solidFill>
          <a:ln w="12700">
            <a:solidFill>
              <a:srgbClr val="10B981"/>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02</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Rules for Every Build Day</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10B981"/>
                </a:solidFill>
                <a:latin typeface="Calibri" pitchFamily="34" charset="0"/>
                <a:ea typeface="Calibri" pitchFamily="34" charset="-122"/>
                <a:cs typeface="Calibri" pitchFamily="34" charset="-120"/>
              </a:rPr>
              <a:t>Build — Week 2  ·  These apply to every domain, every day.</a:t>
            </a:r>
            <a:endParaRPr lang="en-US" sz="1400" dirty="0"/>
          </a:p>
        </p:txBody>
      </p:sp>
      <p:sp>
        <p:nvSpPr>
          <p:cNvPr id="6" name="Shape 4"/>
          <p:cNvSpPr/>
          <p:nvPr/>
        </p:nvSpPr>
        <p:spPr>
          <a:xfrm>
            <a:off x="411480" y="1783080"/>
            <a:ext cx="4005072" cy="950976"/>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411480" y="1783080"/>
            <a:ext cx="54864" cy="950976"/>
          </a:xfrm>
          <a:prstGeom prst="rect">
            <a:avLst/>
          </a:prstGeom>
          <a:solidFill>
            <a:srgbClr val="10B981"/>
          </a:solidFill>
          <a:ln w="12700">
            <a:solidFill>
              <a:srgbClr val="10B981"/>
            </a:solidFill>
            <a:prstDash val="solid"/>
          </a:ln>
        </p:spPr>
      </p:sp>
      <p:sp>
        <p:nvSpPr>
          <p:cNvPr id="8" name="Text 6"/>
          <p:cNvSpPr/>
          <p:nvPr/>
        </p:nvSpPr>
        <p:spPr>
          <a:xfrm>
            <a:off x="594360" y="1874520"/>
            <a:ext cx="3749040" cy="292608"/>
          </a:xfrm>
          <a:prstGeom prst="rect">
            <a:avLst/>
          </a:prstGeom>
          <a:noFill/>
          <a:ln/>
        </p:spPr>
        <p:txBody>
          <a:bodyPr wrap="square" lIns="0" tIns="0" rIns="0" bIns="0" rtlCol="0" anchor="ctr"/>
          <a:lstStyle/>
          <a:p>
            <a:pPr indent="0" marL="0">
              <a:buNone/>
            </a:pPr>
            <a:r>
              <a:rPr lang="en-US" sz="1400" b="1" dirty="0">
                <a:solidFill>
                  <a:srgbClr val="6EE7B7"/>
                </a:solidFill>
                <a:latin typeface="Calibri" pitchFamily="34" charset="0"/>
                <a:ea typeface="Calibri" pitchFamily="34" charset="-122"/>
                <a:cs typeface="Calibri" pitchFamily="34" charset="-120"/>
              </a:rPr>
              <a:t>Daily Standup</a:t>
            </a:r>
            <a:endParaRPr lang="en-US" sz="1400" dirty="0"/>
          </a:p>
        </p:txBody>
      </p:sp>
      <p:sp>
        <p:nvSpPr>
          <p:cNvPr id="9" name="Text 7"/>
          <p:cNvSpPr/>
          <p:nvPr/>
        </p:nvSpPr>
        <p:spPr>
          <a:xfrm>
            <a:off x="594360" y="2185416"/>
            <a:ext cx="3749040" cy="475488"/>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10 minutes every morning.</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What did I complete yesterday? What am I building today? What is blocking me?</a:t>
            </a:r>
            <a:endParaRPr lang="en-US" sz="1150" dirty="0"/>
          </a:p>
        </p:txBody>
      </p:sp>
      <p:sp>
        <p:nvSpPr>
          <p:cNvPr id="10" name="Shape 8"/>
          <p:cNvSpPr/>
          <p:nvPr/>
        </p:nvSpPr>
        <p:spPr>
          <a:xfrm>
            <a:off x="4636008" y="1783080"/>
            <a:ext cx="4005072" cy="950976"/>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1" name="Shape 9"/>
          <p:cNvSpPr/>
          <p:nvPr/>
        </p:nvSpPr>
        <p:spPr>
          <a:xfrm>
            <a:off x="4636008" y="1783080"/>
            <a:ext cx="54864" cy="950976"/>
          </a:xfrm>
          <a:prstGeom prst="rect">
            <a:avLst/>
          </a:prstGeom>
          <a:solidFill>
            <a:srgbClr val="10B981"/>
          </a:solidFill>
          <a:ln w="12700">
            <a:solidFill>
              <a:srgbClr val="10B981"/>
            </a:solidFill>
            <a:prstDash val="solid"/>
          </a:ln>
        </p:spPr>
      </p:sp>
      <p:sp>
        <p:nvSpPr>
          <p:cNvPr id="12" name="Text 10"/>
          <p:cNvSpPr/>
          <p:nvPr/>
        </p:nvSpPr>
        <p:spPr>
          <a:xfrm>
            <a:off x="4818888" y="1874520"/>
            <a:ext cx="3749040" cy="292608"/>
          </a:xfrm>
          <a:prstGeom prst="rect">
            <a:avLst/>
          </a:prstGeom>
          <a:noFill/>
          <a:ln/>
        </p:spPr>
        <p:txBody>
          <a:bodyPr wrap="square" lIns="0" tIns="0" rIns="0" bIns="0" rtlCol="0" anchor="ctr"/>
          <a:lstStyle/>
          <a:p>
            <a:pPr indent="0" marL="0">
              <a:buNone/>
            </a:pPr>
            <a:r>
              <a:rPr lang="en-US" sz="1400" b="1" dirty="0">
                <a:solidFill>
                  <a:srgbClr val="6EE7B7"/>
                </a:solidFill>
                <a:latin typeface="Calibri" pitchFamily="34" charset="0"/>
                <a:ea typeface="Calibri" pitchFamily="34" charset="-122"/>
                <a:cs typeface="Calibri" pitchFamily="34" charset="-120"/>
              </a:rPr>
              <a:t>Commit Every Day</a:t>
            </a:r>
            <a:endParaRPr lang="en-US" sz="1400" dirty="0"/>
          </a:p>
        </p:txBody>
      </p:sp>
      <p:sp>
        <p:nvSpPr>
          <p:cNvPr id="13" name="Text 11"/>
          <p:cNvSpPr/>
          <p:nvPr/>
        </p:nvSpPr>
        <p:spPr>
          <a:xfrm>
            <a:off x="4818888" y="2185416"/>
            <a:ext cx="3749040" cy="475488"/>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Push work to GitHub / save to shared folder at end of each day.</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Work that is not stored does not exist.</a:t>
            </a:r>
            <a:endParaRPr lang="en-US" sz="1150" dirty="0"/>
          </a:p>
        </p:txBody>
      </p:sp>
      <p:sp>
        <p:nvSpPr>
          <p:cNvPr id="14" name="Shape 12"/>
          <p:cNvSpPr/>
          <p:nvPr/>
        </p:nvSpPr>
        <p:spPr>
          <a:xfrm>
            <a:off x="411480" y="2862072"/>
            <a:ext cx="4005072" cy="950976"/>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5" name="Shape 13"/>
          <p:cNvSpPr/>
          <p:nvPr/>
        </p:nvSpPr>
        <p:spPr>
          <a:xfrm>
            <a:off x="411480" y="2862072"/>
            <a:ext cx="54864" cy="950976"/>
          </a:xfrm>
          <a:prstGeom prst="rect">
            <a:avLst/>
          </a:prstGeom>
          <a:solidFill>
            <a:srgbClr val="10B981"/>
          </a:solidFill>
          <a:ln w="12700">
            <a:solidFill>
              <a:srgbClr val="10B981"/>
            </a:solidFill>
            <a:prstDash val="solid"/>
          </a:ln>
        </p:spPr>
      </p:sp>
      <p:sp>
        <p:nvSpPr>
          <p:cNvPr id="16" name="Text 14"/>
          <p:cNvSpPr/>
          <p:nvPr/>
        </p:nvSpPr>
        <p:spPr>
          <a:xfrm>
            <a:off x="594360" y="2953512"/>
            <a:ext cx="3749040" cy="292608"/>
          </a:xfrm>
          <a:prstGeom prst="rect">
            <a:avLst/>
          </a:prstGeom>
          <a:noFill/>
          <a:ln/>
        </p:spPr>
        <p:txBody>
          <a:bodyPr wrap="square" lIns="0" tIns="0" rIns="0" bIns="0" rtlCol="0" anchor="ctr"/>
          <a:lstStyle/>
          <a:p>
            <a:pPr indent="0" marL="0">
              <a:buNone/>
            </a:pPr>
            <a:r>
              <a:rPr lang="en-US" sz="1400" b="1" dirty="0">
                <a:solidFill>
                  <a:srgbClr val="6EE7B7"/>
                </a:solidFill>
                <a:latin typeface="Calibri" pitchFamily="34" charset="0"/>
                <a:ea typeface="Calibri" pitchFamily="34" charset="-122"/>
                <a:cs typeface="Calibri" pitchFamily="34" charset="-120"/>
              </a:rPr>
              <a:t>Daily Log Entry</a:t>
            </a:r>
            <a:endParaRPr lang="en-US" sz="1400" dirty="0"/>
          </a:p>
        </p:txBody>
      </p:sp>
      <p:sp>
        <p:nvSpPr>
          <p:cNvPr id="17" name="Text 15"/>
          <p:cNvSpPr/>
          <p:nvPr/>
        </p:nvSpPr>
        <p:spPr>
          <a:xfrm>
            <a:off x="594360" y="3264408"/>
            <a:ext cx="3749040" cy="475488"/>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One paragraph per day: what was done, what worked, what didn't.</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This becomes your reflection evidence.</a:t>
            </a:r>
            <a:endParaRPr lang="en-US" sz="1150" dirty="0"/>
          </a:p>
        </p:txBody>
      </p:sp>
      <p:sp>
        <p:nvSpPr>
          <p:cNvPr id="18" name="Shape 16"/>
          <p:cNvSpPr/>
          <p:nvPr/>
        </p:nvSpPr>
        <p:spPr>
          <a:xfrm>
            <a:off x="4636008" y="2862072"/>
            <a:ext cx="4005072" cy="950976"/>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9" name="Shape 17"/>
          <p:cNvSpPr/>
          <p:nvPr/>
        </p:nvSpPr>
        <p:spPr>
          <a:xfrm>
            <a:off x="4636008" y="2862072"/>
            <a:ext cx="54864" cy="950976"/>
          </a:xfrm>
          <a:prstGeom prst="rect">
            <a:avLst/>
          </a:prstGeom>
          <a:solidFill>
            <a:srgbClr val="10B981"/>
          </a:solidFill>
          <a:ln w="12700">
            <a:solidFill>
              <a:srgbClr val="10B981"/>
            </a:solidFill>
            <a:prstDash val="solid"/>
          </a:ln>
        </p:spPr>
      </p:sp>
      <p:sp>
        <p:nvSpPr>
          <p:cNvPr id="20" name="Text 18"/>
          <p:cNvSpPr/>
          <p:nvPr/>
        </p:nvSpPr>
        <p:spPr>
          <a:xfrm>
            <a:off x="4818888" y="2953512"/>
            <a:ext cx="3749040" cy="292608"/>
          </a:xfrm>
          <a:prstGeom prst="rect">
            <a:avLst/>
          </a:prstGeom>
          <a:noFill/>
          <a:ln/>
        </p:spPr>
        <p:txBody>
          <a:bodyPr wrap="square" lIns="0" tIns="0" rIns="0" bIns="0" rtlCol="0" anchor="ctr"/>
          <a:lstStyle/>
          <a:p>
            <a:pPr indent="0" marL="0">
              <a:buNone/>
            </a:pPr>
            <a:r>
              <a:rPr lang="en-US" sz="1400" b="1" dirty="0">
                <a:solidFill>
                  <a:srgbClr val="6EE7B7"/>
                </a:solidFill>
                <a:latin typeface="Calibri" pitchFamily="34" charset="0"/>
                <a:ea typeface="Calibri" pitchFamily="34" charset="-122"/>
                <a:cs typeface="Calibri" pitchFamily="34" charset="-120"/>
              </a:rPr>
              <a:t>Raise Blockers Early</a:t>
            </a:r>
            <a:endParaRPr lang="en-US" sz="1400" dirty="0"/>
          </a:p>
        </p:txBody>
      </p:sp>
      <p:sp>
        <p:nvSpPr>
          <p:cNvPr id="21" name="Text 19"/>
          <p:cNvSpPr/>
          <p:nvPr/>
        </p:nvSpPr>
        <p:spPr>
          <a:xfrm>
            <a:off x="4818888" y="3264408"/>
            <a:ext cx="3749040" cy="475488"/>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If you are stuck for more than 2 hours — tell your trainer immediately.</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Quiet struggle helps no one.</a:t>
            </a:r>
            <a:endParaRPr lang="en-US" sz="1150" dirty="0"/>
          </a:p>
        </p:txBody>
      </p:sp>
      <p:sp>
        <p:nvSpPr>
          <p:cNvPr id="22" name="Shape 20"/>
          <p:cNvSpPr/>
          <p:nvPr/>
        </p:nvSpPr>
        <p:spPr>
          <a:xfrm>
            <a:off x="411480" y="3941064"/>
            <a:ext cx="4005072" cy="950976"/>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3" name="Shape 21"/>
          <p:cNvSpPr/>
          <p:nvPr/>
        </p:nvSpPr>
        <p:spPr>
          <a:xfrm>
            <a:off x="411480" y="3941064"/>
            <a:ext cx="54864" cy="950976"/>
          </a:xfrm>
          <a:prstGeom prst="rect">
            <a:avLst/>
          </a:prstGeom>
          <a:solidFill>
            <a:srgbClr val="10B981"/>
          </a:solidFill>
          <a:ln w="12700">
            <a:solidFill>
              <a:srgbClr val="10B981"/>
            </a:solidFill>
            <a:prstDash val="solid"/>
          </a:ln>
        </p:spPr>
      </p:sp>
      <p:sp>
        <p:nvSpPr>
          <p:cNvPr id="24" name="Text 22"/>
          <p:cNvSpPr/>
          <p:nvPr/>
        </p:nvSpPr>
        <p:spPr>
          <a:xfrm>
            <a:off x="594360" y="4032504"/>
            <a:ext cx="3749040" cy="292608"/>
          </a:xfrm>
          <a:prstGeom prst="rect">
            <a:avLst/>
          </a:prstGeom>
          <a:noFill/>
          <a:ln/>
        </p:spPr>
        <p:txBody>
          <a:bodyPr wrap="square" lIns="0" tIns="0" rIns="0" bIns="0" rtlCol="0" anchor="ctr"/>
          <a:lstStyle/>
          <a:p>
            <a:pPr indent="0" marL="0">
              <a:buNone/>
            </a:pPr>
            <a:r>
              <a:rPr lang="en-US" sz="1400" b="1" dirty="0">
                <a:solidFill>
                  <a:srgbClr val="6EE7B7"/>
                </a:solidFill>
                <a:latin typeface="Calibri" pitchFamily="34" charset="0"/>
                <a:ea typeface="Calibri" pitchFamily="34" charset="-122"/>
                <a:cs typeface="Calibri" pitchFamily="34" charset="-120"/>
              </a:rPr>
              <a:t>Day 3 Mid-Sprint Check</a:t>
            </a:r>
            <a:endParaRPr lang="en-US" sz="1400" dirty="0"/>
          </a:p>
        </p:txBody>
      </p:sp>
      <p:sp>
        <p:nvSpPr>
          <p:cNvPr id="25" name="Text 23"/>
          <p:cNvSpPr/>
          <p:nvPr/>
        </p:nvSpPr>
        <p:spPr>
          <a:xfrm>
            <a:off x="594360" y="4343400"/>
            <a:ext cx="3749040" cy="475488"/>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Trainer reviews progress against your Blueprint on Day 3.</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Focus shifts to polish and fix — no new features added after this point.</a:t>
            </a:r>
            <a:endParaRPr lang="en-US" sz="1150" dirty="0"/>
          </a:p>
        </p:txBody>
      </p:sp>
      <p:sp>
        <p:nvSpPr>
          <p:cNvPr id="26" name="Shape 24"/>
          <p:cNvSpPr/>
          <p:nvPr/>
        </p:nvSpPr>
        <p:spPr>
          <a:xfrm>
            <a:off x="4636008" y="3941064"/>
            <a:ext cx="4005072" cy="950976"/>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7" name="Shape 25"/>
          <p:cNvSpPr/>
          <p:nvPr/>
        </p:nvSpPr>
        <p:spPr>
          <a:xfrm>
            <a:off x="4636008" y="3941064"/>
            <a:ext cx="54864" cy="950976"/>
          </a:xfrm>
          <a:prstGeom prst="rect">
            <a:avLst/>
          </a:prstGeom>
          <a:solidFill>
            <a:srgbClr val="10B981"/>
          </a:solidFill>
          <a:ln w="12700">
            <a:solidFill>
              <a:srgbClr val="10B981"/>
            </a:solidFill>
            <a:prstDash val="solid"/>
          </a:ln>
        </p:spPr>
      </p:sp>
      <p:sp>
        <p:nvSpPr>
          <p:cNvPr id="28" name="Text 26"/>
          <p:cNvSpPr/>
          <p:nvPr/>
        </p:nvSpPr>
        <p:spPr>
          <a:xfrm>
            <a:off x="4818888" y="4032504"/>
            <a:ext cx="3749040" cy="292608"/>
          </a:xfrm>
          <a:prstGeom prst="rect">
            <a:avLst/>
          </a:prstGeom>
          <a:noFill/>
          <a:ln/>
        </p:spPr>
        <p:txBody>
          <a:bodyPr wrap="square" lIns="0" tIns="0" rIns="0" bIns="0" rtlCol="0" anchor="ctr"/>
          <a:lstStyle/>
          <a:p>
            <a:pPr indent="0" marL="0">
              <a:buNone/>
            </a:pPr>
            <a:r>
              <a:rPr lang="en-US" sz="1400" b="1" dirty="0">
                <a:solidFill>
                  <a:srgbClr val="6EE7B7"/>
                </a:solidFill>
                <a:latin typeface="Calibri" pitchFamily="34" charset="0"/>
                <a:ea typeface="Calibri" pitchFamily="34" charset="-122"/>
                <a:cs typeface="Calibri" pitchFamily="34" charset="-120"/>
              </a:rPr>
              <a:t>End-of-Phase Rule</a:t>
            </a:r>
            <a:endParaRPr lang="en-US" sz="1400" dirty="0"/>
          </a:p>
        </p:txBody>
      </p:sp>
      <p:sp>
        <p:nvSpPr>
          <p:cNvPr id="29" name="Text 27"/>
          <p:cNvSpPr/>
          <p:nvPr/>
        </p:nvSpPr>
        <p:spPr>
          <a:xfrm>
            <a:off x="4818888" y="4343400"/>
            <a:ext cx="3749040" cy="475488"/>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By end of Day 5, something working must exist.</a:t>
            </a:r>
            <a:endParaRPr lang="en-US" sz="1150" dirty="0"/>
          </a:p>
          <a:p>
            <a:pPr indent="0" marL="0">
              <a:buNone/>
            </a:pPr>
            <a:r>
              <a:rPr lang="en-US" sz="1150" dirty="0">
                <a:solidFill>
                  <a:srgbClr val="E6EDF3"/>
                </a:solidFill>
                <a:latin typeface="Calibri" pitchFamily="34" charset="0"/>
                <a:ea typeface="Calibri" pitchFamily="34" charset="-122"/>
                <a:cs typeface="Calibri" pitchFamily="34" charset="-120"/>
              </a:rPr>
              <a:t>If nothing is built, Phase 3 cannot happen.</a:t>
            </a:r>
            <a:endParaRPr lang="en-US" sz="1150" dirty="0"/>
          </a:p>
        </p:txBody>
      </p:sp>
      <p:sp>
        <p:nvSpPr>
          <p:cNvPr id="30" name="Text 28"/>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10B981"/>
          </a:solidFill>
          <a:ln w="12700">
            <a:solidFill>
              <a:srgbClr val="10B981"/>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02</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Daily Build Targets by Domain</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10B981"/>
                </a:solidFill>
                <a:latin typeface="Calibri" pitchFamily="34" charset="0"/>
                <a:ea typeface="Calibri" pitchFamily="34" charset="-122"/>
                <a:cs typeface="Calibri" pitchFamily="34" charset="-120"/>
              </a:rPr>
              <a:t>What each track must ship, day by day, during the Build sprint.</a:t>
            </a:r>
            <a:endParaRPr lang="en-US" sz="1400" dirty="0"/>
          </a:p>
        </p:txBody>
      </p:sp>
      <p:sp>
        <p:nvSpPr>
          <p:cNvPr id="6" name="Shape 4"/>
          <p:cNvSpPr/>
          <p:nvPr/>
        </p:nvSpPr>
        <p:spPr>
          <a:xfrm>
            <a:off x="320040" y="1737360"/>
            <a:ext cx="1234440" cy="384048"/>
          </a:xfrm>
          <a:prstGeom prst="rect">
            <a:avLst/>
          </a:prstGeom>
          <a:solidFill>
            <a:srgbClr val="10B981"/>
          </a:solidFill>
          <a:ln w="12700">
            <a:solidFill>
              <a:srgbClr val="10B981"/>
            </a:solidFill>
            <a:prstDash val="solid"/>
          </a:ln>
        </p:spPr>
      </p:sp>
      <p:sp>
        <p:nvSpPr>
          <p:cNvPr id="7" name="Text 5"/>
          <p:cNvSpPr/>
          <p:nvPr/>
        </p:nvSpPr>
        <p:spPr>
          <a:xfrm>
            <a:off x="320040" y="1737360"/>
            <a:ext cx="1234440" cy="384048"/>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Domain</a:t>
            </a:r>
            <a:endParaRPr lang="en-US" sz="1000" dirty="0"/>
          </a:p>
        </p:txBody>
      </p:sp>
      <p:sp>
        <p:nvSpPr>
          <p:cNvPr id="8" name="Shape 6"/>
          <p:cNvSpPr/>
          <p:nvPr/>
        </p:nvSpPr>
        <p:spPr>
          <a:xfrm>
            <a:off x="1572768" y="1737360"/>
            <a:ext cx="1444752" cy="384048"/>
          </a:xfrm>
          <a:prstGeom prst="rect">
            <a:avLst/>
          </a:prstGeom>
          <a:solidFill>
            <a:srgbClr val="10B981"/>
          </a:solidFill>
          <a:ln w="12700">
            <a:solidFill>
              <a:srgbClr val="10B981"/>
            </a:solidFill>
            <a:prstDash val="solid"/>
          </a:ln>
        </p:spPr>
      </p:sp>
      <p:sp>
        <p:nvSpPr>
          <p:cNvPr id="9" name="Text 7"/>
          <p:cNvSpPr/>
          <p:nvPr/>
        </p:nvSpPr>
        <p:spPr>
          <a:xfrm>
            <a:off x="1572768" y="1737360"/>
            <a:ext cx="1444752" cy="384048"/>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1</a:t>
            </a:r>
            <a:endParaRPr lang="en-US" sz="1000" dirty="0"/>
          </a:p>
        </p:txBody>
      </p:sp>
      <p:sp>
        <p:nvSpPr>
          <p:cNvPr id="10" name="Shape 8"/>
          <p:cNvSpPr/>
          <p:nvPr/>
        </p:nvSpPr>
        <p:spPr>
          <a:xfrm>
            <a:off x="3035808" y="1737360"/>
            <a:ext cx="1444752" cy="384048"/>
          </a:xfrm>
          <a:prstGeom prst="rect">
            <a:avLst/>
          </a:prstGeom>
          <a:solidFill>
            <a:srgbClr val="10B981"/>
          </a:solidFill>
          <a:ln w="12700">
            <a:solidFill>
              <a:srgbClr val="10B981"/>
            </a:solidFill>
            <a:prstDash val="solid"/>
          </a:ln>
        </p:spPr>
      </p:sp>
      <p:sp>
        <p:nvSpPr>
          <p:cNvPr id="11" name="Text 9"/>
          <p:cNvSpPr/>
          <p:nvPr/>
        </p:nvSpPr>
        <p:spPr>
          <a:xfrm>
            <a:off x="3035808" y="1737360"/>
            <a:ext cx="1444752" cy="384048"/>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2</a:t>
            </a:r>
            <a:endParaRPr lang="en-US" sz="1000" dirty="0"/>
          </a:p>
        </p:txBody>
      </p:sp>
      <p:sp>
        <p:nvSpPr>
          <p:cNvPr id="12" name="Shape 10"/>
          <p:cNvSpPr/>
          <p:nvPr/>
        </p:nvSpPr>
        <p:spPr>
          <a:xfrm>
            <a:off x="4498848" y="1737360"/>
            <a:ext cx="1444752" cy="384048"/>
          </a:xfrm>
          <a:prstGeom prst="rect">
            <a:avLst/>
          </a:prstGeom>
          <a:solidFill>
            <a:srgbClr val="10B981"/>
          </a:solidFill>
          <a:ln w="12700">
            <a:solidFill>
              <a:srgbClr val="10B981"/>
            </a:solidFill>
            <a:prstDash val="solid"/>
          </a:ln>
        </p:spPr>
      </p:sp>
      <p:sp>
        <p:nvSpPr>
          <p:cNvPr id="13" name="Text 11"/>
          <p:cNvSpPr/>
          <p:nvPr/>
        </p:nvSpPr>
        <p:spPr>
          <a:xfrm>
            <a:off x="4498848" y="1737360"/>
            <a:ext cx="1444752" cy="384048"/>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3  (Mid-Check)</a:t>
            </a:r>
            <a:endParaRPr lang="en-US" sz="1000" dirty="0"/>
          </a:p>
        </p:txBody>
      </p:sp>
      <p:sp>
        <p:nvSpPr>
          <p:cNvPr id="14" name="Shape 12"/>
          <p:cNvSpPr/>
          <p:nvPr/>
        </p:nvSpPr>
        <p:spPr>
          <a:xfrm>
            <a:off x="5961888" y="1737360"/>
            <a:ext cx="1444752" cy="384048"/>
          </a:xfrm>
          <a:prstGeom prst="rect">
            <a:avLst/>
          </a:prstGeom>
          <a:solidFill>
            <a:srgbClr val="10B981"/>
          </a:solidFill>
          <a:ln w="12700">
            <a:solidFill>
              <a:srgbClr val="10B981"/>
            </a:solidFill>
            <a:prstDash val="solid"/>
          </a:ln>
        </p:spPr>
      </p:sp>
      <p:sp>
        <p:nvSpPr>
          <p:cNvPr id="15" name="Text 13"/>
          <p:cNvSpPr/>
          <p:nvPr/>
        </p:nvSpPr>
        <p:spPr>
          <a:xfrm>
            <a:off x="5961888" y="1737360"/>
            <a:ext cx="1444752" cy="384048"/>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4</a:t>
            </a:r>
            <a:endParaRPr lang="en-US" sz="1000" dirty="0"/>
          </a:p>
        </p:txBody>
      </p:sp>
      <p:sp>
        <p:nvSpPr>
          <p:cNvPr id="16" name="Shape 14"/>
          <p:cNvSpPr/>
          <p:nvPr/>
        </p:nvSpPr>
        <p:spPr>
          <a:xfrm>
            <a:off x="7424928" y="1737360"/>
            <a:ext cx="1444752" cy="384048"/>
          </a:xfrm>
          <a:prstGeom prst="rect">
            <a:avLst/>
          </a:prstGeom>
          <a:solidFill>
            <a:srgbClr val="10B981"/>
          </a:solidFill>
          <a:ln w="12700">
            <a:solidFill>
              <a:srgbClr val="10B981"/>
            </a:solidFill>
            <a:prstDash val="solid"/>
          </a:ln>
        </p:spPr>
      </p:sp>
      <p:sp>
        <p:nvSpPr>
          <p:cNvPr id="17" name="Text 15"/>
          <p:cNvSpPr/>
          <p:nvPr/>
        </p:nvSpPr>
        <p:spPr>
          <a:xfrm>
            <a:off x="7424928" y="1737360"/>
            <a:ext cx="1444752" cy="384048"/>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5</a:t>
            </a:r>
            <a:endParaRPr lang="en-US" sz="1000" dirty="0"/>
          </a:p>
        </p:txBody>
      </p:sp>
      <p:sp>
        <p:nvSpPr>
          <p:cNvPr id="18" name="Shape 16"/>
          <p:cNvSpPr/>
          <p:nvPr/>
        </p:nvSpPr>
        <p:spPr>
          <a:xfrm>
            <a:off x="320040" y="2139696"/>
            <a:ext cx="1234440" cy="475488"/>
          </a:xfrm>
          <a:prstGeom prst="rect">
            <a:avLst/>
          </a:prstGeom>
          <a:solidFill>
            <a:srgbClr val="1C2333"/>
          </a:solidFill>
          <a:ln w="12700">
            <a:solidFill>
              <a:srgbClr val="30363D"/>
            </a:solidFill>
            <a:prstDash val="solid"/>
          </a:ln>
        </p:spPr>
      </p:sp>
      <p:sp>
        <p:nvSpPr>
          <p:cNvPr id="19" name="Text 17"/>
          <p:cNvSpPr/>
          <p:nvPr/>
        </p:nvSpPr>
        <p:spPr>
          <a:xfrm>
            <a:off x="374904" y="2176272"/>
            <a:ext cx="1143000" cy="402336"/>
          </a:xfrm>
          <a:prstGeom prst="rect">
            <a:avLst/>
          </a:prstGeom>
          <a:noFill/>
          <a:ln/>
        </p:spPr>
        <p:txBody>
          <a:bodyPr wrap="square" lIns="0" tIns="0" rIns="0" bIns="0" rtlCol="0" anchor="ctr"/>
          <a:lstStyle/>
          <a:p>
            <a:pPr indent="0" marL="0">
              <a:buNone/>
            </a:pPr>
            <a:r>
              <a:rPr lang="en-US" sz="1100" b="1" dirty="0">
                <a:solidFill>
                  <a:srgbClr val="3B82F6"/>
                </a:solidFill>
                <a:latin typeface="Calibri" pitchFamily="34" charset="0"/>
                <a:ea typeface="Calibri" pitchFamily="34" charset="-122"/>
                <a:cs typeface="Calibri" pitchFamily="34" charset="-120"/>
              </a:rPr>
              <a:t>IT IGNITE</a:t>
            </a:r>
            <a:endParaRPr lang="en-US" sz="1100" dirty="0"/>
          </a:p>
        </p:txBody>
      </p:sp>
      <p:sp>
        <p:nvSpPr>
          <p:cNvPr id="20" name="Shape 18"/>
          <p:cNvSpPr/>
          <p:nvPr/>
        </p:nvSpPr>
        <p:spPr>
          <a:xfrm>
            <a:off x="1572768" y="2139696"/>
            <a:ext cx="1444752" cy="475488"/>
          </a:xfrm>
          <a:prstGeom prst="rect">
            <a:avLst/>
          </a:prstGeom>
          <a:solidFill>
            <a:srgbClr val="1C2333"/>
          </a:solidFill>
          <a:ln w="12700">
            <a:solidFill>
              <a:srgbClr val="30363D"/>
            </a:solidFill>
            <a:prstDash val="solid"/>
          </a:ln>
        </p:spPr>
      </p:sp>
      <p:sp>
        <p:nvSpPr>
          <p:cNvPr id="21" name="Text 19"/>
          <p:cNvSpPr/>
          <p:nvPr/>
        </p:nvSpPr>
        <p:spPr>
          <a:xfrm>
            <a:off x="1627632" y="217627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Core feature end-to-end</a:t>
            </a:r>
            <a:endParaRPr lang="en-US" sz="1050" dirty="0"/>
          </a:p>
        </p:txBody>
      </p:sp>
      <p:sp>
        <p:nvSpPr>
          <p:cNvPr id="22" name="Shape 20"/>
          <p:cNvSpPr/>
          <p:nvPr/>
        </p:nvSpPr>
        <p:spPr>
          <a:xfrm>
            <a:off x="3035808" y="2139696"/>
            <a:ext cx="1444752" cy="475488"/>
          </a:xfrm>
          <a:prstGeom prst="rect">
            <a:avLst/>
          </a:prstGeom>
          <a:solidFill>
            <a:srgbClr val="1C2333"/>
          </a:solidFill>
          <a:ln w="12700">
            <a:solidFill>
              <a:srgbClr val="30363D"/>
            </a:solidFill>
            <a:prstDash val="solid"/>
          </a:ln>
        </p:spPr>
      </p:sp>
      <p:sp>
        <p:nvSpPr>
          <p:cNvPr id="23" name="Text 21"/>
          <p:cNvSpPr/>
          <p:nvPr/>
        </p:nvSpPr>
        <p:spPr>
          <a:xfrm>
            <a:off x="3090672" y="217627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More features + error handling</a:t>
            </a:r>
            <a:endParaRPr lang="en-US" sz="1050" dirty="0"/>
          </a:p>
        </p:txBody>
      </p:sp>
      <p:sp>
        <p:nvSpPr>
          <p:cNvPr id="24" name="Shape 22"/>
          <p:cNvSpPr/>
          <p:nvPr/>
        </p:nvSpPr>
        <p:spPr>
          <a:xfrm>
            <a:off x="4498848" y="2139696"/>
            <a:ext cx="1444752" cy="475488"/>
          </a:xfrm>
          <a:prstGeom prst="rect">
            <a:avLst/>
          </a:prstGeom>
          <a:solidFill>
            <a:srgbClr val="1C2333"/>
          </a:solidFill>
          <a:ln w="12700">
            <a:solidFill>
              <a:srgbClr val="30363D"/>
            </a:solidFill>
            <a:prstDash val="solid"/>
          </a:ln>
        </p:spPr>
      </p:sp>
      <p:sp>
        <p:nvSpPr>
          <p:cNvPr id="25" name="Text 23"/>
          <p:cNvSpPr/>
          <p:nvPr/>
        </p:nvSpPr>
        <p:spPr>
          <a:xfrm>
            <a:off x="4553712" y="2176272"/>
            <a:ext cx="1353312" cy="402336"/>
          </a:xfrm>
          <a:prstGeom prst="rect">
            <a:avLst/>
          </a:prstGeom>
          <a:noFill/>
          <a:ln/>
        </p:spPr>
        <p:txBody>
          <a:bodyPr wrap="square" lIns="0" tIns="0" rIns="0" bIns="0" rtlCol="0" anchor="ctr"/>
          <a:lstStyle/>
          <a:p>
            <a:pPr indent="0" marL="0">
              <a:buNone/>
            </a:pPr>
            <a:r>
              <a:rPr lang="en-US" sz="1050" dirty="0">
                <a:solidFill>
                  <a:srgbClr val="6EE7B7"/>
                </a:solidFill>
                <a:latin typeface="Calibri" pitchFamily="34" charset="0"/>
                <a:ea typeface="Calibri" pitchFamily="34" charset="-122"/>
                <a:cs typeface="Calibri" pitchFamily="34" charset="-120"/>
              </a:rPr>
              <a:t>Polish &amp; fix only</a:t>
            </a:r>
            <a:endParaRPr lang="en-US" sz="1050" dirty="0"/>
          </a:p>
        </p:txBody>
      </p:sp>
      <p:sp>
        <p:nvSpPr>
          <p:cNvPr id="26" name="Shape 24"/>
          <p:cNvSpPr/>
          <p:nvPr/>
        </p:nvSpPr>
        <p:spPr>
          <a:xfrm>
            <a:off x="5961888" y="2139696"/>
            <a:ext cx="1444752" cy="475488"/>
          </a:xfrm>
          <a:prstGeom prst="rect">
            <a:avLst/>
          </a:prstGeom>
          <a:solidFill>
            <a:srgbClr val="1C2333"/>
          </a:solidFill>
          <a:ln w="12700">
            <a:solidFill>
              <a:srgbClr val="30363D"/>
            </a:solidFill>
            <a:prstDash val="solid"/>
          </a:ln>
        </p:spPr>
      </p:sp>
      <p:sp>
        <p:nvSpPr>
          <p:cNvPr id="27" name="Text 25"/>
          <p:cNvSpPr/>
          <p:nvPr/>
        </p:nvSpPr>
        <p:spPr>
          <a:xfrm>
            <a:off x="6016752" y="217627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Testing + documentation</a:t>
            </a:r>
            <a:endParaRPr lang="en-US" sz="1050" dirty="0"/>
          </a:p>
        </p:txBody>
      </p:sp>
      <p:sp>
        <p:nvSpPr>
          <p:cNvPr id="28" name="Shape 26"/>
          <p:cNvSpPr/>
          <p:nvPr/>
        </p:nvSpPr>
        <p:spPr>
          <a:xfrm>
            <a:off x="7424928" y="2139696"/>
            <a:ext cx="1444752" cy="475488"/>
          </a:xfrm>
          <a:prstGeom prst="rect">
            <a:avLst/>
          </a:prstGeom>
          <a:solidFill>
            <a:srgbClr val="1C2333"/>
          </a:solidFill>
          <a:ln w="12700">
            <a:solidFill>
              <a:srgbClr val="30363D"/>
            </a:solidFill>
            <a:prstDash val="solid"/>
          </a:ln>
        </p:spPr>
      </p:sp>
      <p:sp>
        <p:nvSpPr>
          <p:cNvPr id="29" name="Text 27"/>
          <p:cNvSpPr/>
          <p:nvPr/>
        </p:nvSpPr>
        <p:spPr>
          <a:xfrm>
            <a:off x="7479792" y="217627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GitHub push + README</a:t>
            </a:r>
            <a:endParaRPr lang="en-US" sz="1050" dirty="0"/>
          </a:p>
        </p:txBody>
      </p:sp>
      <p:sp>
        <p:nvSpPr>
          <p:cNvPr id="30" name="Shape 28"/>
          <p:cNvSpPr/>
          <p:nvPr/>
        </p:nvSpPr>
        <p:spPr>
          <a:xfrm>
            <a:off x="320040" y="2615184"/>
            <a:ext cx="1234440" cy="475488"/>
          </a:xfrm>
          <a:prstGeom prst="rect">
            <a:avLst/>
          </a:prstGeom>
          <a:solidFill>
            <a:srgbClr val="161B22"/>
          </a:solidFill>
          <a:ln w="12700">
            <a:solidFill>
              <a:srgbClr val="30363D"/>
            </a:solidFill>
            <a:prstDash val="solid"/>
          </a:ln>
        </p:spPr>
      </p:sp>
      <p:sp>
        <p:nvSpPr>
          <p:cNvPr id="31" name="Text 29"/>
          <p:cNvSpPr/>
          <p:nvPr/>
        </p:nvSpPr>
        <p:spPr>
          <a:xfrm>
            <a:off x="374904" y="2651760"/>
            <a:ext cx="1143000" cy="402336"/>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AI / ML</a:t>
            </a:r>
            <a:endParaRPr lang="en-US" sz="1100" dirty="0"/>
          </a:p>
        </p:txBody>
      </p:sp>
      <p:sp>
        <p:nvSpPr>
          <p:cNvPr id="32" name="Shape 30"/>
          <p:cNvSpPr/>
          <p:nvPr/>
        </p:nvSpPr>
        <p:spPr>
          <a:xfrm>
            <a:off x="1572768" y="2615184"/>
            <a:ext cx="1444752" cy="475488"/>
          </a:xfrm>
          <a:prstGeom prst="rect">
            <a:avLst/>
          </a:prstGeom>
          <a:solidFill>
            <a:srgbClr val="161B22"/>
          </a:solidFill>
          <a:ln w="12700">
            <a:solidFill>
              <a:srgbClr val="30363D"/>
            </a:solidFill>
            <a:prstDash val="solid"/>
          </a:ln>
        </p:spPr>
      </p:sp>
      <p:sp>
        <p:nvSpPr>
          <p:cNvPr id="33" name="Text 31"/>
          <p:cNvSpPr/>
          <p:nvPr/>
        </p:nvSpPr>
        <p:spPr>
          <a:xfrm>
            <a:off x="1627632" y="2651760"/>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Baseline model + metric</a:t>
            </a:r>
            <a:endParaRPr lang="en-US" sz="1050" dirty="0"/>
          </a:p>
        </p:txBody>
      </p:sp>
      <p:sp>
        <p:nvSpPr>
          <p:cNvPr id="34" name="Shape 32"/>
          <p:cNvSpPr/>
          <p:nvPr/>
        </p:nvSpPr>
        <p:spPr>
          <a:xfrm>
            <a:off x="3035808" y="2615184"/>
            <a:ext cx="1444752" cy="475488"/>
          </a:xfrm>
          <a:prstGeom prst="rect">
            <a:avLst/>
          </a:prstGeom>
          <a:solidFill>
            <a:srgbClr val="161B22"/>
          </a:solidFill>
          <a:ln w="12700">
            <a:solidFill>
              <a:srgbClr val="30363D"/>
            </a:solidFill>
            <a:prstDash val="solid"/>
          </a:ln>
        </p:spPr>
      </p:sp>
      <p:sp>
        <p:nvSpPr>
          <p:cNvPr id="35" name="Text 33"/>
          <p:cNvSpPr/>
          <p:nvPr/>
        </p:nvSpPr>
        <p:spPr>
          <a:xfrm>
            <a:off x="3090672" y="2651760"/>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Feature engineering + tuning</a:t>
            </a:r>
            <a:endParaRPr lang="en-US" sz="1050" dirty="0"/>
          </a:p>
        </p:txBody>
      </p:sp>
      <p:sp>
        <p:nvSpPr>
          <p:cNvPr id="36" name="Shape 34"/>
          <p:cNvSpPr/>
          <p:nvPr/>
        </p:nvSpPr>
        <p:spPr>
          <a:xfrm>
            <a:off x="4498848" y="2615184"/>
            <a:ext cx="1444752" cy="475488"/>
          </a:xfrm>
          <a:prstGeom prst="rect">
            <a:avLst/>
          </a:prstGeom>
          <a:solidFill>
            <a:srgbClr val="161B22"/>
          </a:solidFill>
          <a:ln w="12700">
            <a:solidFill>
              <a:srgbClr val="30363D"/>
            </a:solidFill>
            <a:prstDash val="solid"/>
          </a:ln>
        </p:spPr>
      </p:sp>
      <p:sp>
        <p:nvSpPr>
          <p:cNvPr id="37" name="Text 35"/>
          <p:cNvSpPr/>
          <p:nvPr/>
        </p:nvSpPr>
        <p:spPr>
          <a:xfrm>
            <a:off x="4553712" y="2651760"/>
            <a:ext cx="1353312" cy="402336"/>
          </a:xfrm>
          <a:prstGeom prst="rect">
            <a:avLst/>
          </a:prstGeom>
          <a:noFill/>
          <a:ln/>
        </p:spPr>
        <p:txBody>
          <a:bodyPr wrap="square" lIns="0" tIns="0" rIns="0" bIns="0" rtlCol="0" anchor="ctr"/>
          <a:lstStyle/>
          <a:p>
            <a:pPr indent="0" marL="0">
              <a:buNone/>
            </a:pPr>
            <a:r>
              <a:rPr lang="en-US" sz="1050" dirty="0">
                <a:solidFill>
                  <a:srgbClr val="6EE7B7"/>
                </a:solidFill>
                <a:latin typeface="Calibri" pitchFamily="34" charset="0"/>
                <a:ea typeface="Calibri" pitchFamily="34" charset="-122"/>
                <a:cs typeface="Calibri" pitchFamily="34" charset="-120"/>
              </a:rPr>
              <a:t>Best model locked</a:t>
            </a:r>
            <a:endParaRPr lang="en-US" sz="1050" dirty="0"/>
          </a:p>
        </p:txBody>
      </p:sp>
      <p:sp>
        <p:nvSpPr>
          <p:cNvPr id="38" name="Shape 36"/>
          <p:cNvSpPr/>
          <p:nvPr/>
        </p:nvSpPr>
        <p:spPr>
          <a:xfrm>
            <a:off x="5961888" y="2615184"/>
            <a:ext cx="1444752" cy="475488"/>
          </a:xfrm>
          <a:prstGeom prst="rect">
            <a:avLst/>
          </a:prstGeom>
          <a:solidFill>
            <a:srgbClr val="161B22"/>
          </a:solidFill>
          <a:ln w="12700">
            <a:solidFill>
              <a:srgbClr val="30363D"/>
            </a:solidFill>
            <a:prstDash val="solid"/>
          </a:ln>
        </p:spPr>
      </p:sp>
      <p:sp>
        <p:nvSpPr>
          <p:cNvPr id="39" name="Text 37"/>
          <p:cNvSpPr/>
          <p:nvPr/>
        </p:nvSpPr>
        <p:spPr>
          <a:xfrm>
            <a:off x="6016752" y="2651760"/>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Test set evaluation</a:t>
            </a:r>
            <a:endParaRPr lang="en-US" sz="1050" dirty="0"/>
          </a:p>
        </p:txBody>
      </p:sp>
      <p:sp>
        <p:nvSpPr>
          <p:cNvPr id="40" name="Shape 38"/>
          <p:cNvSpPr/>
          <p:nvPr/>
        </p:nvSpPr>
        <p:spPr>
          <a:xfrm>
            <a:off x="7424928" y="2615184"/>
            <a:ext cx="1444752" cy="475488"/>
          </a:xfrm>
          <a:prstGeom prst="rect">
            <a:avLst/>
          </a:prstGeom>
          <a:solidFill>
            <a:srgbClr val="161B22"/>
          </a:solidFill>
          <a:ln w="12700">
            <a:solidFill>
              <a:srgbClr val="30363D"/>
            </a:solidFill>
            <a:prstDash val="solid"/>
          </a:ln>
        </p:spPr>
      </p:sp>
      <p:sp>
        <p:nvSpPr>
          <p:cNvPr id="41" name="Text 39"/>
          <p:cNvSpPr/>
          <p:nvPr/>
        </p:nvSpPr>
        <p:spPr>
          <a:xfrm>
            <a:off x="7479792" y="2651760"/>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Inference pipeline + model card</a:t>
            </a:r>
            <a:endParaRPr lang="en-US" sz="1050" dirty="0"/>
          </a:p>
        </p:txBody>
      </p:sp>
      <p:sp>
        <p:nvSpPr>
          <p:cNvPr id="42" name="Shape 40"/>
          <p:cNvSpPr/>
          <p:nvPr/>
        </p:nvSpPr>
        <p:spPr>
          <a:xfrm>
            <a:off x="320040" y="3090672"/>
            <a:ext cx="1234440" cy="475488"/>
          </a:xfrm>
          <a:prstGeom prst="rect">
            <a:avLst/>
          </a:prstGeom>
          <a:solidFill>
            <a:srgbClr val="1C2333"/>
          </a:solidFill>
          <a:ln w="12700">
            <a:solidFill>
              <a:srgbClr val="30363D"/>
            </a:solidFill>
            <a:prstDash val="solid"/>
          </a:ln>
        </p:spPr>
      </p:sp>
      <p:sp>
        <p:nvSpPr>
          <p:cNvPr id="43" name="Text 41"/>
          <p:cNvSpPr/>
          <p:nvPr/>
        </p:nvSpPr>
        <p:spPr>
          <a:xfrm>
            <a:off x="374904" y="3127248"/>
            <a:ext cx="1143000" cy="402336"/>
          </a:xfrm>
          <a:prstGeom prst="rect">
            <a:avLst/>
          </a:prstGeom>
          <a:noFill/>
          <a:ln/>
        </p:spPr>
        <p:txBody>
          <a:bodyPr wrap="square" lIns="0" tIns="0" rIns="0" bIns="0" rtlCol="0" anchor="ctr"/>
          <a:lstStyle/>
          <a:p>
            <a:pPr indent="0" marL="0">
              <a:buNone/>
            </a:pPr>
            <a:r>
              <a:rPr lang="en-US" sz="1100" b="1" dirty="0">
                <a:solidFill>
                  <a:srgbClr val="F59E0B"/>
                </a:solidFill>
                <a:latin typeface="Calibri" pitchFamily="34" charset="0"/>
                <a:ea typeface="Calibri" pitchFamily="34" charset="-122"/>
                <a:cs typeface="Calibri" pitchFamily="34" charset="-120"/>
              </a:rPr>
              <a:t>AI Data Analyst</a:t>
            </a:r>
            <a:endParaRPr lang="en-US" sz="1100" dirty="0"/>
          </a:p>
        </p:txBody>
      </p:sp>
      <p:sp>
        <p:nvSpPr>
          <p:cNvPr id="44" name="Shape 42"/>
          <p:cNvSpPr/>
          <p:nvPr/>
        </p:nvSpPr>
        <p:spPr>
          <a:xfrm>
            <a:off x="1572768" y="3090672"/>
            <a:ext cx="1444752" cy="475488"/>
          </a:xfrm>
          <a:prstGeom prst="rect">
            <a:avLst/>
          </a:prstGeom>
          <a:solidFill>
            <a:srgbClr val="1C2333"/>
          </a:solidFill>
          <a:ln w="12700">
            <a:solidFill>
              <a:srgbClr val="30363D"/>
            </a:solidFill>
            <a:prstDash val="solid"/>
          </a:ln>
        </p:spPr>
      </p:sp>
      <p:sp>
        <p:nvSpPr>
          <p:cNvPr id="45" name="Text 43"/>
          <p:cNvSpPr/>
          <p:nvPr/>
        </p:nvSpPr>
        <p:spPr>
          <a:xfrm>
            <a:off x="1627632" y="3127248"/>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Data cleaned + EDA done</a:t>
            </a:r>
            <a:endParaRPr lang="en-US" sz="1050" dirty="0"/>
          </a:p>
        </p:txBody>
      </p:sp>
      <p:sp>
        <p:nvSpPr>
          <p:cNvPr id="46" name="Shape 44"/>
          <p:cNvSpPr/>
          <p:nvPr/>
        </p:nvSpPr>
        <p:spPr>
          <a:xfrm>
            <a:off x="3035808" y="3090672"/>
            <a:ext cx="1444752" cy="475488"/>
          </a:xfrm>
          <a:prstGeom prst="rect">
            <a:avLst/>
          </a:prstGeom>
          <a:solidFill>
            <a:srgbClr val="1C2333"/>
          </a:solidFill>
          <a:ln w="12700">
            <a:solidFill>
              <a:srgbClr val="30363D"/>
            </a:solidFill>
            <a:prstDash val="solid"/>
          </a:ln>
        </p:spPr>
      </p:sp>
      <p:sp>
        <p:nvSpPr>
          <p:cNvPr id="47" name="Text 45"/>
          <p:cNvSpPr/>
          <p:nvPr/>
        </p:nvSpPr>
        <p:spPr>
          <a:xfrm>
            <a:off x="3090672" y="3127248"/>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Core analysis + visuals</a:t>
            </a:r>
            <a:endParaRPr lang="en-US" sz="1050" dirty="0"/>
          </a:p>
        </p:txBody>
      </p:sp>
      <p:sp>
        <p:nvSpPr>
          <p:cNvPr id="48" name="Shape 46"/>
          <p:cNvSpPr/>
          <p:nvPr/>
        </p:nvSpPr>
        <p:spPr>
          <a:xfrm>
            <a:off x="4498848" y="3090672"/>
            <a:ext cx="1444752" cy="475488"/>
          </a:xfrm>
          <a:prstGeom prst="rect">
            <a:avLst/>
          </a:prstGeom>
          <a:solidFill>
            <a:srgbClr val="1C2333"/>
          </a:solidFill>
          <a:ln w="12700">
            <a:solidFill>
              <a:srgbClr val="30363D"/>
            </a:solidFill>
            <a:prstDash val="solid"/>
          </a:ln>
        </p:spPr>
      </p:sp>
      <p:sp>
        <p:nvSpPr>
          <p:cNvPr id="49" name="Text 47"/>
          <p:cNvSpPr/>
          <p:nvPr/>
        </p:nvSpPr>
        <p:spPr>
          <a:xfrm>
            <a:off x="4553712" y="3127248"/>
            <a:ext cx="1353312" cy="402336"/>
          </a:xfrm>
          <a:prstGeom prst="rect">
            <a:avLst/>
          </a:prstGeom>
          <a:noFill/>
          <a:ln/>
        </p:spPr>
        <p:txBody>
          <a:bodyPr wrap="square" lIns="0" tIns="0" rIns="0" bIns="0" rtlCol="0" anchor="ctr"/>
          <a:lstStyle/>
          <a:p>
            <a:pPr indent="0" marL="0">
              <a:buNone/>
            </a:pPr>
            <a:r>
              <a:rPr lang="en-US" sz="1050" dirty="0">
                <a:solidFill>
                  <a:srgbClr val="6EE7B7"/>
                </a:solidFill>
                <a:latin typeface="Calibri" pitchFamily="34" charset="0"/>
                <a:ea typeface="Calibri" pitchFamily="34" charset="-122"/>
                <a:cs typeface="Calibri" pitchFamily="34" charset="-120"/>
              </a:rPr>
              <a:t>Insights drafted</a:t>
            </a:r>
            <a:endParaRPr lang="en-US" sz="1050" dirty="0"/>
          </a:p>
        </p:txBody>
      </p:sp>
      <p:sp>
        <p:nvSpPr>
          <p:cNvPr id="50" name="Shape 48"/>
          <p:cNvSpPr/>
          <p:nvPr/>
        </p:nvSpPr>
        <p:spPr>
          <a:xfrm>
            <a:off x="5961888" y="3090672"/>
            <a:ext cx="1444752" cy="475488"/>
          </a:xfrm>
          <a:prstGeom prst="rect">
            <a:avLst/>
          </a:prstGeom>
          <a:solidFill>
            <a:srgbClr val="1C2333"/>
          </a:solidFill>
          <a:ln w="12700">
            <a:solidFill>
              <a:srgbClr val="30363D"/>
            </a:solidFill>
            <a:prstDash val="solid"/>
          </a:ln>
        </p:spPr>
      </p:sp>
      <p:sp>
        <p:nvSpPr>
          <p:cNvPr id="51" name="Text 49"/>
          <p:cNvSpPr/>
          <p:nvPr/>
        </p:nvSpPr>
        <p:spPr>
          <a:xfrm>
            <a:off x="6016752" y="3127248"/>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Statistical validation</a:t>
            </a:r>
            <a:endParaRPr lang="en-US" sz="1050" dirty="0"/>
          </a:p>
        </p:txBody>
      </p:sp>
      <p:sp>
        <p:nvSpPr>
          <p:cNvPr id="52" name="Shape 50"/>
          <p:cNvSpPr/>
          <p:nvPr/>
        </p:nvSpPr>
        <p:spPr>
          <a:xfrm>
            <a:off x="7424928" y="3090672"/>
            <a:ext cx="1444752" cy="475488"/>
          </a:xfrm>
          <a:prstGeom prst="rect">
            <a:avLst/>
          </a:prstGeom>
          <a:solidFill>
            <a:srgbClr val="1C2333"/>
          </a:solidFill>
          <a:ln w="12700">
            <a:solidFill>
              <a:srgbClr val="30363D"/>
            </a:solidFill>
            <a:prstDash val="solid"/>
          </a:ln>
        </p:spPr>
      </p:sp>
      <p:sp>
        <p:nvSpPr>
          <p:cNvPr id="53" name="Text 51"/>
          <p:cNvSpPr/>
          <p:nvPr/>
        </p:nvSpPr>
        <p:spPr>
          <a:xfrm>
            <a:off x="7479792" y="3127248"/>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Insight report + dashboard</a:t>
            </a:r>
            <a:endParaRPr lang="en-US" sz="1050" dirty="0"/>
          </a:p>
        </p:txBody>
      </p:sp>
      <p:sp>
        <p:nvSpPr>
          <p:cNvPr id="54" name="Shape 52"/>
          <p:cNvSpPr/>
          <p:nvPr/>
        </p:nvSpPr>
        <p:spPr>
          <a:xfrm>
            <a:off x="320040" y="3566160"/>
            <a:ext cx="1234440" cy="475488"/>
          </a:xfrm>
          <a:prstGeom prst="rect">
            <a:avLst/>
          </a:prstGeom>
          <a:solidFill>
            <a:srgbClr val="161B22"/>
          </a:solidFill>
          <a:ln w="12700">
            <a:solidFill>
              <a:srgbClr val="30363D"/>
            </a:solidFill>
            <a:prstDash val="solid"/>
          </a:ln>
        </p:spPr>
      </p:sp>
      <p:sp>
        <p:nvSpPr>
          <p:cNvPr id="55" name="Text 53"/>
          <p:cNvSpPr/>
          <p:nvPr/>
        </p:nvSpPr>
        <p:spPr>
          <a:xfrm>
            <a:off x="374904" y="3602736"/>
            <a:ext cx="1143000" cy="402336"/>
          </a:xfrm>
          <a:prstGeom prst="rect">
            <a:avLst/>
          </a:prstGeom>
          <a:noFill/>
          <a:ln/>
        </p:spPr>
        <p:txBody>
          <a:bodyPr wrap="square" lIns="0" tIns="0" rIns="0" bIns="0" rtlCol="0" anchor="ctr"/>
          <a:lstStyle/>
          <a:p>
            <a:pPr indent="0" marL="0">
              <a:buNone/>
            </a:pPr>
            <a:r>
              <a:rPr lang="en-US" sz="1100" b="1" dirty="0">
                <a:solidFill>
                  <a:srgbClr val="A855F7"/>
                </a:solidFill>
                <a:latin typeface="Calibri" pitchFamily="34" charset="0"/>
                <a:ea typeface="Calibri" pitchFamily="34" charset="-122"/>
                <a:cs typeface="Calibri" pitchFamily="34" charset="-120"/>
              </a:rPr>
              <a:t>Web Dev</a:t>
            </a:r>
            <a:endParaRPr lang="en-US" sz="1100" dirty="0"/>
          </a:p>
        </p:txBody>
      </p:sp>
      <p:sp>
        <p:nvSpPr>
          <p:cNvPr id="56" name="Shape 54"/>
          <p:cNvSpPr/>
          <p:nvPr/>
        </p:nvSpPr>
        <p:spPr>
          <a:xfrm>
            <a:off x="1572768" y="3566160"/>
            <a:ext cx="1444752" cy="475488"/>
          </a:xfrm>
          <a:prstGeom prst="rect">
            <a:avLst/>
          </a:prstGeom>
          <a:solidFill>
            <a:srgbClr val="161B22"/>
          </a:solidFill>
          <a:ln w="12700">
            <a:solidFill>
              <a:srgbClr val="30363D"/>
            </a:solidFill>
            <a:prstDash val="solid"/>
          </a:ln>
        </p:spPr>
      </p:sp>
      <p:sp>
        <p:nvSpPr>
          <p:cNvPr id="57" name="Text 55"/>
          <p:cNvSpPr/>
          <p:nvPr/>
        </p:nvSpPr>
        <p:spPr>
          <a:xfrm>
            <a:off x="1627632" y="3602736"/>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Frontend + backend local</a:t>
            </a:r>
            <a:endParaRPr lang="en-US" sz="1050" dirty="0"/>
          </a:p>
        </p:txBody>
      </p:sp>
      <p:sp>
        <p:nvSpPr>
          <p:cNvPr id="58" name="Shape 56"/>
          <p:cNvSpPr/>
          <p:nvPr/>
        </p:nvSpPr>
        <p:spPr>
          <a:xfrm>
            <a:off x="3035808" y="3566160"/>
            <a:ext cx="1444752" cy="475488"/>
          </a:xfrm>
          <a:prstGeom prst="rect">
            <a:avLst/>
          </a:prstGeom>
          <a:solidFill>
            <a:srgbClr val="161B22"/>
          </a:solidFill>
          <a:ln w="12700">
            <a:solidFill>
              <a:srgbClr val="30363D"/>
            </a:solidFill>
            <a:prstDash val="solid"/>
          </a:ln>
        </p:spPr>
      </p:sp>
      <p:sp>
        <p:nvSpPr>
          <p:cNvPr id="59" name="Text 57"/>
          <p:cNvSpPr/>
          <p:nvPr/>
        </p:nvSpPr>
        <p:spPr>
          <a:xfrm>
            <a:off x="3090672" y="3602736"/>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Core features + integration</a:t>
            </a:r>
            <a:endParaRPr lang="en-US" sz="1050" dirty="0"/>
          </a:p>
        </p:txBody>
      </p:sp>
      <p:sp>
        <p:nvSpPr>
          <p:cNvPr id="60" name="Shape 58"/>
          <p:cNvSpPr/>
          <p:nvPr/>
        </p:nvSpPr>
        <p:spPr>
          <a:xfrm>
            <a:off x="4498848" y="3566160"/>
            <a:ext cx="1444752" cy="475488"/>
          </a:xfrm>
          <a:prstGeom prst="rect">
            <a:avLst/>
          </a:prstGeom>
          <a:solidFill>
            <a:srgbClr val="161B22"/>
          </a:solidFill>
          <a:ln w="12700">
            <a:solidFill>
              <a:srgbClr val="30363D"/>
            </a:solidFill>
            <a:prstDash val="solid"/>
          </a:ln>
        </p:spPr>
      </p:sp>
      <p:sp>
        <p:nvSpPr>
          <p:cNvPr id="61" name="Text 59"/>
          <p:cNvSpPr/>
          <p:nvPr/>
        </p:nvSpPr>
        <p:spPr>
          <a:xfrm>
            <a:off x="4553712" y="3602736"/>
            <a:ext cx="1353312" cy="402336"/>
          </a:xfrm>
          <a:prstGeom prst="rect">
            <a:avLst/>
          </a:prstGeom>
          <a:noFill/>
          <a:ln/>
        </p:spPr>
        <p:txBody>
          <a:bodyPr wrap="square" lIns="0" tIns="0" rIns="0" bIns="0" rtlCol="0" anchor="ctr"/>
          <a:lstStyle/>
          <a:p>
            <a:pPr indent="0" marL="0">
              <a:buNone/>
            </a:pPr>
            <a:r>
              <a:rPr lang="en-US" sz="1050" dirty="0">
                <a:solidFill>
                  <a:srgbClr val="6EE7B7"/>
                </a:solidFill>
                <a:latin typeface="Calibri" pitchFamily="34" charset="0"/>
                <a:ea typeface="Calibri" pitchFamily="34" charset="-122"/>
                <a:cs typeface="Calibri" pitchFamily="34" charset="-120"/>
              </a:rPr>
              <a:t>API tested + bugs fixed</a:t>
            </a:r>
            <a:endParaRPr lang="en-US" sz="1050" dirty="0"/>
          </a:p>
        </p:txBody>
      </p:sp>
      <p:sp>
        <p:nvSpPr>
          <p:cNvPr id="62" name="Shape 60"/>
          <p:cNvSpPr/>
          <p:nvPr/>
        </p:nvSpPr>
        <p:spPr>
          <a:xfrm>
            <a:off x="5961888" y="3566160"/>
            <a:ext cx="1444752" cy="475488"/>
          </a:xfrm>
          <a:prstGeom prst="rect">
            <a:avLst/>
          </a:prstGeom>
          <a:solidFill>
            <a:srgbClr val="161B22"/>
          </a:solidFill>
          <a:ln w="12700">
            <a:solidFill>
              <a:srgbClr val="30363D"/>
            </a:solidFill>
            <a:prstDash val="solid"/>
          </a:ln>
        </p:spPr>
      </p:sp>
      <p:sp>
        <p:nvSpPr>
          <p:cNvPr id="63" name="Text 61"/>
          <p:cNvSpPr/>
          <p:nvPr/>
        </p:nvSpPr>
        <p:spPr>
          <a:xfrm>
            <a:off x="6016752" y="3602736"/>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AI feature + deployed</a:t>
            </a:r>
            <a:endParaRPr lang="en-US" sz="1050" dirty="0"/>
          </a:p>
        </p:txBody>
      </p:sp>
      <p:sp>
        <p:nvSpPr>
          <p:cNvPr id="64" name="Shape 62"/>
          <p:cNvSpPr/>
          <p:nvPr/>
        </p:nvSpPr>
        <p:spPr>
          <a:xfrm>
            <a:off x="7424928" y="3566160"/>
            <a:ext cx="1444752" cy="475488"/>
          </a:xfrm>
          <a:prstGeom prst="rect">
            <a:avLst/>
          </a:prstGeom>
          <a:solidFill>
            <a:srgbClr val="161B22"/>
          </a:solidFill>
          <a:ln w="12700">
            <a:solidFill>
              <a:srgbClr val="30363D"/>
            </a:solidFill>
            <a:prstDash val="solid"/>
          </a:ln>
        </p:spPr>
      </p:sp>
      <p:sp>
        <p:nvSpPr>
          <p:cNvPr id="65" name="Text 63"/>
          <p:cNvSpPr/>
          <p:nvPr/>
        </p:nvSpPr>
        <p:spPr>
          <a:xfrm>
            <a:off x="7479792" y="3602736"/>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Live URL + README done</a:t>
            </a:r>
            <a:endParaRPr lang="en-US" sz="1050" dirty="0"/>
          </a:p>
        </p:txBody>
      </p:sp>
      <p:sp>
        <p:nvSpPr>
          <p:cNvPr id="66" name="Shape 64"/>
          <p:cNvSpPr/>
          <p:nvPr/>
        </p:nvSpPr>
        <p:spPr>
          <a:xfrm>
            <a:off x="320040" y="4041648"/>
            <a:ext cx="1234440" cy="475488"/>
          </a:xfrm>
          <a:prstGeom prst="rect">
            <a:avLst/>
          </a:prstGeom>
          <a:solidFill>
            <a:srgbClr val="1C2333"/>
          </a:solidFill>
          <a:ln w="12700">
            <a:solidFill>
              <a:srgbClr val="30363D"/>
            </a:solidFill>
            <a:prstDash val="solid"/>
          </a:ln>
        </p:spPr>
      </p:sp>
      <p:sp>
        <p:nvSpPr>
          <p:cNvPr id="67" name="Text 65"/>
          <p:cNvSpPr/>
          <p:nvPr/>
        </p:nvSpPr>
        <p:spPr>
          <a:xfrm>
            <a:off x="374904" y="4078224"/>
            <a:ext cx="1143000" cy="402336"/>
          </a:xfrm>
          <a:prstGeom prst="rect">
            <a:avLst/>
          </a:prstGeom>
          <a:noFill/>
          <a:ln/>
        </p:spPr>
        <p:txBody>
          <a:bodyPr wrap="square" lIns="0" tIns="0" rIns="0" bIns="0" rtlCol="0" anchor="ctr"/>
          <a:lstStyle/>
          <a:p>
            <a:pPr indent="0" marL="0">
              <a:buNone/>
            </a:pPr>
            <a:r>
              <a:rPr lang="en-US" sz="1100" b="1" dirty="0">
                <a:solidFill>
                  <a:srgbClr val="06B6D4"/>
                </a:solidFill>
                <a:latin typeface="Calibri" pitchFamily="34" charset="0"/>
                <a:ea typeface="Calibri" pitchFamily="34" charset="-122"/>
                <a:cs typeface="Calibri" pitchFamily="34" charset="-120"/>
              </a:rPr>
              <a:t>IT-Ops</a:t>
            </a:r>
            <a:endParaRPr lang="en-US" sz="1100" dirty="0"/>
          </a:p>
        </p:txBody>
      </p:sp>
      <p:sp>
        <p:nvSpPr>
          <p:cNvPr id="68" name="Shape 66"/>
          <p:cNvSpPr/>
          <p:nvPr/>
        </p:nvSpPr>
        <p:spPr>
          <a:xfrm>
            <a:off x="1572768" y="4041648"/>
            <a:ext cx="1444752" cy="475488"/>
          </a:xfrm>
          <a:prstGeom prst="rect">
            <a:avLst/>
          </a:prstGeom>
          <a:solidFill>
            <a:srgbClr val="1C2333"/>
          </a:solidFill>
          <a:ln w="12700">
            <a:solidFill>
              <a:srgbClr val="30363D"/>
            </a:solidFill>
            <a:prstDash val="solid"/>
          </a:ln>
        </p:spPr>
      </p:sp>
      <p:sp>
        <p:nvSpPr>
          <p:cNvPr id="69" name="Text 67"/>
          <p:cNvSpPr/>
          <p:nvPr/>
        </p:nvSpPr>
        <p:spPr>
          <a:xfrm>
            <a:off x="1627632" y="4078224"/>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First script running</a:t>
            </a:r>
            <a:endParaRPr lang="en-US" sz="1050" dirty="0"/>
          </a:p>
        </p:txBody>
      </p:sp>
      <p:sp>
        <p:nvSpPr>
          <p:cNvPr id="70" name="Shape 68"/>
          <p:cNvSpPr/>
          <p:nvPr/>
        </p:nvSpPr>
        <p:spPr>
          <a:xfrm>
            <a:off x="3035808" y="4041648"/>
            <a:ext cx="1444752" cy="475488"/>
          </a:xfrm>
          <a:prstGeom prst="rect">
            <a:avLst/>
          </a:prstGeom>
          <a:solidFill>
            <a:srgbClr val="1C2333"/>
          </a:solidFill>
          <a:ln w="12700">
            <a:solidFill>
              <a:srgbClr val="30363D"/>
            </a:solidFill>
            <a:prstDash val="solid"/>
          </a:ln>
        </p:spPr>
      </p:sp>
      <p:sp>
        <p:nvSpPr>
          <p:cNvPr id="71" name="Text 69"/>
          <p:cNvSpPr/>
          <p:nvPr/>
        </p:nvSpPr>
        <p:spPr>
          <a:xfrm>
            <a:off x="3090672" y="4078224"/>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Core infra deployed</a:t>
            </a:r>
            <a:endParaRPr lang="en-US" sz="1050" dirty="0"/>
          </a:p>
        </p:txBody>
      </p:sp>
      <p:sp>
        <p:nvSpPr>
          <p:cNvPr id="72" name="Shape 70"/>
          <p:cNvSpPr/>
          <p:nvPr/>
        </p:nvSpPr>
        <p:spPr>
          <a:xfrm>
            <a:off x="4498848" y="4041648"/>
            <a:ext cx="1444752" cy="475488"/>
          </a:xfrm>
          <a:prstGeom prst="rect">
            <a:avLst/>
          </a:prstGeom>
          <a:solidFill>
            <a:srgbClr val="1C2333"/>
          </a:solidFill>
          <a:ln w="12700">
            <a:solidFill>
              <a:srgbClr val="30363D"/>
            </a:solidFill>
            <a:prstDash val="solid"/>
          </a:ln>
        </p:spPr>
      </p:sp>
      <p:sp>
        <p:nvSpPr>
          <p:cNvPr id="73" name="Text 71"/>
          <p:cNvSpPr/>
          <p:nvPr/>
        </p:nvSpPr>
        <p:spPr>
          <a:xfrm>
            <a:off x="4553712" y="4078224"/>
            <a:ext cx="1353312" cy="402336"/>
          </a:xfrm>
          <a:prstGeom prst="rect">
            <a:avLst/>
          </a:prstGeom>
          <a:noFill/>
          <a:ln/>
        </p:spPr>
        <p:txBody>
          <a:bodyPr wrap="square" lIns="0" tIns="0" rIns="0" bIns="0" rtlCol="0" anchor="ctr"/>
          <a:lstStyle/>
          <a:p>
            <a:pPr indent="0" marL="0">
              <a:buNone/>
            </a:pPr>
            <a:r>
              <a:rPr lang="en-US" sz="1050" dirty="0">
                <a:solidFill>
                  <a:srgbClr val="6EE7B7"/>
                </a:solidFill>
                <a:latin typeface="Calibri" pitchFamily="34" charset="0"/>
                <a:ea typeface="Calibri" pitchFamily="34" charset="-122"/>
                <a:cs typeface="Calibri" pitchFamily="34" charset="-120"/>
              </a:rPr>
              <a:t>Pipeline tested</a:t>
            </a:r>
            <a:endParaRPr lang="en-US" sz="1050" dirty="0"/>
          </a:p>
        </p:txBody>
      </p:sp>
      <p:sp>
        <p:nvSpPr>
          <p:cNvPr id="74" name="Shape 72"/>
          <p:cNvSpPr/>
          <p:nvPr/>
        </p:nvSpPr>
        <p:spPr>
          <a:xfrm>
            <a:off x="5961888" y="4041648"/>
            <a:ext cx="1444752" cy="475488"/>
          </a:xfrm>
          <a:prstGeom prst="rect">
            <a:avLst/>
          </a:prstGeom>
          <a:solidFill>
            <a:srgbClr val="1C2333"/>
          </a:solidFill>
          <a:ln w="12700">
            <a:solidFill>
              <a:srgbClr val="30363D"/>
            </a:solidFill>
            <a:prstDash val="solid"/>
          </a:ln>
        </p:spPr>
      </p:sp>
      <p:sp>
        <p:nvSpPr>
          <p:cNvPr id="75" name="Text 73"/>
          <p:cNvSpPr/>
          <p:nvPr/>
        </p:nvSpPr>
        <p:spPr>
          <a:xfrm>
            <a:off x="6016752" y="4078224"/>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Monitoring configured</a:t>
            </a:r>
            <a:endParaRPr lang="en-US" sz="1050" dirty="0"/>
          </a:p>
        </p:txBody>
      </p:sp>
      <p:sp>
        <p:nvSpPr>
          <p:cNvPr id="76" name="Shape 74"/>
          <p:cNvSpPr/>
          <p:nvPr/>
        </p:nvSpPr>
        <p:spPr>
          <a:xfrm>
            <a:off x="7424928" y="4041648"/>
            <a:ext cx="1444752" cy="475488"/>
          </a:xfrm>
          <a:prstGeom prst="rect">
            <a:avLst/>
          </a:prstGeom>
          <a:solidFill>
            <a:srgbClr val="1C2333"/>
          </a:solidFill>
          <a:ln w="12700">
            <a:solidFill>
              <a:srgbClr val="30363D"/>
            </a:solidFill>
            <a:prstDash val="solid"/>
          </a:ln>
        </p:spPr>
      </p:sp>
      <p:sp>
        <p:nvSpPr>
          <p:cNvPr id="77" name="Text 75"/>
          <p:cNvSpPr/>
          <p:nvPr/>
        </p:nvSpPr>
        <p:spPr>
          <a:xfrm>
            <a:off x="7479792" y="4078224"/>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Full runbook written</a:t>
            </a:r>
            <a:endParaRPr lang="en-US" sz="1050" dirty="0"/>
          </a:p>
        </p:txBody>
      </p:sp>
      <p:sp>
        <p:nvSpPr>
          <p:cNvPr id="78" name="Shape 76"/>
          <p:cNvSpPr/>
          <p:nvPr/>
        </p:nvSpPr>
        <p:spPr>
          <a:xfrm>
            <a:off x="320040" y="4517136"/>
            <a:ext cx="1234440" cy="475488"/>
          </a:xfrm>
          <a:prstGeom prst="rect">
            <a:avLst/>
          </a:prstGeom>
          <a:solidFill>
            <a:srgbClr val="161B22"/>
          </a:solidFill>
          <a:ln w="12700">
            <a:solidFill>
              <a:srgbClr val="30363D"/>
            </a:solidFill>
            <a:prstDash val="solid"/>
          </a:ln>
        </p:spPr>
      </p:sp>
      <p:sp>
        <p:nvSpPr>
          <p:cNvPr id="79" name="Text 77"/>
          <p:cNvSpPr/>
          <p:nvPr/>
        </p:nvSpPr>
        <p:spPr>
          <a:xfrm>
            <a:off x="374904" y="4553712"/>
            <a:ext cx="1143000" cy="402336"/>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CS-EH</a:t>
            </a:r>
            <a:endParaRPr lang="en-US" sz="1100" dirty="0"/>
          </a:p>
        </p:txBody>
      </p:sp>
      <p:sp>
        <p:nvSpPr>
          <p:cNvPr id="80" name="Shape 78"/>
          <p:cNvSpPr/>
          <p:nvPr/>
        </p:nvSpPr>
        <p:spPr>
          <a:xfrm>
            <a:off x="1572768" y="4517136"/>
            <a:ext cx="1444752" cy="475488"/>
          </a:xfrm>
          <a:prstGeom prst="rect">
            <a:avLst/>
          </a:prstGeom>
          <a:solidFill>
            <a:srgbClr val="161B22"/>
          </a:solidFill>
          <a:ln w="12700">
            <a:solidFill>
              <a:srgbClr val="30363D"/>
            </a:solidFill>
            <a:prstDash val="solid"/>
          </a:ln>
        </p:spPr>
      </p:sp>
      <p:sp>
        <p:nvSpPr>
          <p:cNvPr id="81" name="Text 79"/>
          <p:cNvSpPr/>
          <p:nvPr/>
        </p:nvSpPr>
        <p:spPr>
          <a:xfrm>
            <a:off x="1627632" y="455371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Scan or assessment run</a:t>
            </a:r>
            <a:endParaRPr lang="en-US" sz="1050" dirty="0"/>
          </a:p>
        </p:txBody>
      </p:sp>
      <p:sp>
        <p:nvSpPr>
          <p:cNvPr id="82" name="Shape 80"/>
          <p:cNvSpPr/>
          <p:nvPr/>
        </p:nvSpPr>
        <p:spPr>
          <a:xfrm>
            <a:off x="3035808" y="4517136"/>
            <a:ext cx="1444752" cy="475488"/>
          </a:xfrm>
          <a:prstGeom prst="rect">
            <a:avLst/>
          </a:prstGeom>
          <a:solidFill>
            <a:srgbClr val="161B22"/>
          </a:solidFill>
          <a:ln w="12700">
            <a:solidFill>
              <a:srgbClr val="30363D"/>
            </a:solidFill>
            <a:prstDash val="solid"/>
          </a:ln>
        </p:spPr>
      </p:sp>
      <p:sp>
        <p:nvSpPr>
          <p:cNvPr id="83" name="Text 81"/>
          <p:cNvSpPr/>
          <p:nvPr/>
        </p:nvSpPr>
        <p:spPr>
          <a:xfrm>
            <a:off x="3090672" y="455371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Findings documented</a:t>
            </a:r>
            <a:endParaRPr lang="en-US" sz="1050" dirty="0"/>
          </a:p>
        </p:txBody>
      </p:sp>
      <p:sp>
        <p:nvSpPr>
          <p:cNvPr id="84" name="Shape 82"/>
          <p:cNvSpPr/>
          <p:nvPr/>
        </p:nvSpPr>
        <p:spPr>
          <a:xfrm>
            <a:off x="4498848" y="4517136"/>
            <a:ext cx="1444752" cy="475488"/>
          </a:xfrm>
          <a:prstGeom prst="rect">
            <a:avLst/>
          </a:prstGeom>
          <a:solidFill>
            <a:srgbClr val="161B22"/>
          </a:solidFill>
          <a:ln w="12700">
            <a:solidFill>
              <a:srgbClr val="30363D"/>
            </a:solidFill>
            <a:prstDash val="solid"/>
          </a:ln>
        </p:spPr>
      </p:sp>
      <p:sp>
        <p:nvSpPr>
          <p:cNvPr id="85" name="Text 83"/>
          <p:cNvSpPr/>
          <p:nvPr/>
        </p:nvSpPr>
        <p:spPr>
          <a:xfrm>
            <a:off x="4553712" y="4553712"/>
            <a:ext cx="1353312" cy="402336"/>
          </a:xfrm>
          <a:prstGeom prst="rect">
            <a:avLst/>
          </a:prstGeom>
          <a:noFill/>
          <a:ln/>
        </p:spPr>
        <p:txBody>
          <a:bodyPr wrap="square" lIns="0" tIns="0" rIns="0" bIns="0" rtlCol="0" anchor="ctr"/>
          <a:lstStyle/>
          <a:p>
            <a:pPr indent="0" marL="0">
              <a:buNone/>
            </a:pPr>
            <a:r>
              <a:rPr lang="en-US" sz="1050" dirty="0">
                <a:solidFill>
                  <a:srgbClr val="6EE7B7"/>
                </a:solidFill>
                <a:latin typeface="Calibri" pitchFamily="34" charset="0"/>
                <a:ea typeface="Calibri" pitchFamily="34" charset="-122"/>
                <a:cs typeface="Calibri" pitchFamily="34" charset="-120"/>
              </a:rPr>
              <a:t>Top findings validated</a:t>
            </a:r>
            <a:endParaRPr lang="en-US" sz="1050" dirty="0"/>
          </a:p>
        </p:txBody>
      </p:sp>
      <p:sp>
        <p:nvSpPr>
          <p:cNvPr id="86" name="Shape 84"/>
          <p:cNvSpPr/>
          <p:nvPr/>
        </p:nvSpPr>
        <p:spPr>
          <a:xfrm>
            <a:off x="5961888" y="4517136"/>
            <a:ext cx="1444752" cy="475488"/>
          </a:xfrm>
          <a:prstGeom prst="rect">
            <a:avLst/>
          </a:prstGeom>
          <a:solidFill>
            <a:srgbClr val="161B22"/>
          </a:solidFill>
          <a:ln w="12700">
            <a:solidFill>
              <a:srgbClr val="30363D"/>
            </a:solidFill>
            <a:prstDash val="solid"/>
          </a:ln>
        </p:spPr>
      </p:sp>
      <p:sp>
        <p:nvSpPr>
          <p:cNvPr id="87" name="Text 85"/>
          <p:cNvSpPr/>
          <p:nvPr/>
        </p:nvSpPr>
        <p:spPr>
          <a:xfrm>
            <a:off x="6016752" y="455371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Controls designed</a:t>
            </a:r>
            <a:endParaRPr lang="en-US" sz="1050" dirty="0"/>
          </a:p>
        </p:txBody>
      </p:sp>
      <p:sp>
        <p:nvSpPr>
          <p:cNvPr id="88" name="Shape 86"/>
          <p:cNvSpPr/>
          <p:nvPr/>
        </p:nvSpPr>
        <p:spPr>
          <a:xfrm>
            <a:off x="7424928" y="4517136"/>
            <a:ext cx="1444752" cy="475488"/>
          </a:xfrm>
          <a:prstGeom prst="rect">
            <a:avLst/>
          </a:prstGeom>
          <a:solidFill>
            <a:srgbClr val="161B22"/>
          </a:solidFill>
          <a:ln w="12700">
            <a:solidFill>
              <a:srgbClr val="30363D"/>
            </a:solidFill>
            <a:prstDash val="solid"/>
          </a:ln>
        </p:spPr>
      </p:sp>
      <p:sp>
        <p:nvSpPr>
          <p:cNvPr id="89" name="Text 87"/>
          <p:cNvSpPr/>
          <p:nvPr/>
        </p:nvSpPr>
        <p:spPr>
          <a:xfrm>
            <a:off x="7479792" y="4553712"/>
            <a:ext cx="1353312" cy="402336"/>
          </a:xfrm>
          <a:prstGeom prst="rect">
            <a:avLst/>
          </a:prstGeom>
          <a:noFill/>
          <a:ln/>
        </p:spPr>
        <p:txBody>
          <a:bodyPr wrap="square" lIns="0" tIns="0" rIns="0" bIns="0" rtlCol="0" anchor="ctr"/>
          <a:lstStyle/>
          <a:p>
            <a:pPr indent="0" marL="0">
              <a:buNone/>
            </a:pPr>
            <a:r>
              <a:rPr lang="en-US" sz="1050" dirty="0">
                <a:solidFill>
                  <a:srgbClr val="E6EDF3"/>
                </a:solidFill>
                <a:latin typeface="Calibri" pitchFamily="34" charset="0"/>
                <a:ea typeface="Calibri" pitchFamily="34" charset="-122"/>
                <a:cs typeface="Calibri" pitchFamily="34" charset="-120"/>
              </a:rPr>
              <a:t>Security report complete</a:t>
            </a:r>
            <a:endParaRPr lang="en-US" sz="1050" dirty="0"/>
          </a:p>
        </p:txBody>
      </p:sp>
      <p:sp>
        <p:nvSpPr>
          <p:cNvPr id="90" name="Text 88"/>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9E0B"/>
        </a:solidFill>
      </p:bgPr>
    </p:bg>
    <p:spTree>
      <p:nvGrpSpPr>
        <p:cNvPr id="1" name=""/>
        <p:cNvGrpSpPr/>
        <p:nvPr/>
      </p:nvGrpSpPr>
      <p:grpSpPr>
        <a:xfrm>
          <a:off x="0" y="0"/>
          <a:ext cx="0" cy="0"/>
          <a:chOff x="0" y="0"/>
          <a:chExt cx="0" cy="0"/>
        </a:xfrm>
      </p:grpSpPr>
      <p:sp>
        <p:nvSpPr>
          <p:cNvPr id="2" name="Text 0"/>
          <p:cNvSpPr/>
          <p:nvPr/>
        </p:nvSpPr>
        <p:spPr>
          <a:xfrm>
            <a:off x="5029200" y="457200"/>
            <a:ext cx="4114800" cy="4572000"/>
          </a:xfrm>
          <a:prstGeom prst="rect">
            <a:avLst/>
          </a:prstGeom>
          <a:noFill/>
          <a:ln/>
        </p:spPr>
        <p:txBody>
          <a:bodyPr wrap="square" lIns="0" tIns="0" rIns="0" bIns="0" rtlCol="0" anchor="ctr"/>
          <a:lstStyle/>
          <a:p>
            <a:pPr algn="l" indent="0" marL="0">
              <a:buNone/>
            </a:pPr>
            <a:r>
              <a:rPr lang="en-US" sz="26000" b="1" dirty="0">
                <a:solidFill>
                  <a:srgbClr val="D97706">
                    <a:alpha val="30000"/>
                  </a:srgbClr>
                </a:solidFill>
                <a:latin typeface="Calibri" pitchFamily="34" charset="0"/>
                <a:ea typeface="Calibri" pitchFamily="34" charset="-122"/>
                <a:cs typeface="Calibri" pitchFamily="34" charset="-120"/>
              </a:rPr>
              <a:t>03</a:t>
            </a:r>
            <a:endParaRPr lang="en-US" sz="26000" dirty="0"/>
          </a:p>
        </p:txBody>
      </p:sp>
      <p:sp>
        <p:nvSpPr>
          <p:cNvPr id="3" name="Text 1"/>
          <p:cNvSpPr/>
          <p:nvPr/>
        </p:nvSpPr>
        <p:spPr>
          <a:xfrm>
            <a:off x="502920" y="822960"/>
            <a:ext cx="7315200" cy="457200"/>
          </a:xfrm>
          <a:prstGeom prst="rect">
            <a:avLst/>
          </a:prstGeom>
          <a:noFill/>
          <a:ln/>
        </p:spPr>
        <p:txBody>
          <a:bodyPr wrap="square" lIns="0" tIns="0" rIns="0" bIns="0" rtlCol="0" anchor="ctr"/>
          <a:lstStyle/>
          <a:p>
            <a:pPr indent="0" marL="0">
              <a:buNone/>
            </a:pPr>
            <a:r>
              <a:rPr lang="en-US" sz="1400" b="1" spc="500" kern="0" dirty="0">
                <a:solidFill>
                  <a:srgbClr val="0D1117"/>
                </a:solidFill>
                <a:latin typeface="Calibri" pitchFamily="34" charset="0"/>
                <a:ea typeface="Calibri" pitchFamily="34" charset="-122"/>
                <a:cs typeface="Calibri" pitchFamily="34" charset="-120"/>
              </a:rPr>
              <a:t>PHASE THREE</a:t>
            </a:r>
            <a:endParaRPr lang="en-US" sz="1400" dirty="0"/>
          </a:p>
        </p:txBody>
      </p:sp>
      <p:sp>
        <p:nvSpPr>
          <p:cNvPr id="4" name="Text 2"/>
          <p:cNvSpPr/>
          <p:nvPr/>
        </p:nvSpPr>
        <p:spPr>
          <a:xfrm>
            <a:off x="502920" y="1280160"/>
            <a:ext cx="5943600" cy="1371600"/>
          </a:xfrm>
          <a:prstGeom prst="rect">
            <a:avLst/>
          </a:prstGeom>
          <a:noFill/>
          <a:ln/>
        </p:spPr>
        <p:txBody>
          <a:bodyPr wrap="square" lIns="0" tIns="0" rIns="0" bIns="0" rtlCol="0" anchor="ctr"/>
          <a:lstStyle/>
          <a:p>
            <a:pPr indent="0" marL="0">
              <a:buNone/>
            </a:pPr>
            <a:r>
              <a:rPr lang="en-US" sz="9000" b="1" dirty="0">
                <a:solidFill>
                  <a:srgbClr val="0D1117"/>
                </a:solidFill>
                <a:latin typeface="Calibri" pitchFamily="34" charset="0"/>
                <a:ea typeface="Calibri" pitchFamily="34" charset="-122"/>
                <a:cs typeface="Calibri" pitchFamily="34" charset="-120"/>
              </a:rPr>
              <a:t>Present</a:t>
            </a:r>
            <a:endParaRPr lang="en-US" sz="9000" dirty="0"/>
          </a:p>
        </p:txBody>
      </p:sp>
      <p:sp>
        <p:nvSpPr>
          <p:cNvPr id="5" name="Text 3"/>
          <p:cNvSpPr/>
          <p:nvPr/>
        </p:nvSpPr>
        <p:spPr>
          <a:xfrm>
            <a:off x="502920" y="2788920"/>
            <a:ext cx="6400800" cy="502920"/>
          </a:xfrm>
          <a:prstGeom prst="rect">
            <a:avLst/>
          </a:prstGeom>
          <a:noFill/>
          <a:ln/>
        </p:spPr>
        <p:txBody>
          <a:bodyPr wrap="square" lIns="0" tIns="0" rIns="0" bIns="0" rtlCol="0" anchor="ctr"/>
          <a:lstStyle/>
          <a:p>
            <a:pPr indent="0" marL="0">
              <a:buNone/>
            </a:pPr>
            <a:r>
              <a:rPr lang="en-US" sz="2200" dirty="0">
                <a:solidFill>
                  <a:srgbClr val="0D1117"/>
                </a:solidFill>
                <a:latin typeface="Calibri" pitchFamily="34" charset="0"/>
                <a:ea typeface="Calibri" pitchFamily="34" charset="-122"/>
                <a:cs typeface="Calibri" pitchFamily="34" charset="-120"/>
              </a:rPr>
              <a:t>Communicate like a professional.</a:t>
            </a:r>
            <a:endParaRPr lang="en-US" sz="2200" dirty="0"/>
          </a:p>
        </p:txBody>
      </p:sp>
      <p:sp>
        <p:nvSpPr>
          <p:cNvPr id="6" name="Text 4"/>
          <p:cNvSpPr/>
          <p:nvPr/>
        </p:nvSpPr>
        <p:spPr>
          <a:xfrm>
            <a:off x="502920" y="3383280"/>
            <a:ext cx="6858000" cy="548640"/>
          </a:xfrm>
          <a:prstGeom prst="rect">
            <a:avLst/>
          </a:prstGeom>
          <a:noFill/>
          <a:ln/>
        </p:spPr>
        <p:txBody>
          <a:bodyPr wrap="square" lIns="0" tIns="0" rIns="0" bIns="0" rtlCol="0" anchor="ctr"/>
          <a:lstStyle/>
          <a:p>
            <a:pPr indent="0" marL="0">
              <a:buNone/>
            </a:pPr>
            <a:r>
              <a:rPr lang="en-US" sz="1500" dirty="0">
                <a:solidFill>
                  <a:srgbClr val="92400E"/>
                </a:solidFill>
                <a:latin typeface="Calibri" pitchFamily="34" charset="0"/>
                <a:ea typeface="Calibri" pitchFamily="34" charset="-122"/>
                <a:cs typeface="Calibri" pitchFamily="34" charset="-120"/>
              </a:rPr>
              <a:t>Your work is only as valuable as your ability to explain it clearly to someone who wasn't involved.</a:t>
            </a:r>
            <a:endParaRPr lang="en-US" sz="1500" dirty="0"/>
          </a:p>
        </p:txBody>
      </p:sp>
      <p:sp>
        <p:nvSpPr>
          <p:cNvPr id="7" name="Text 5"/>
          <p:cNvSpPr/>
          <p:nvPr/>
        </p:nvSpPr>
        <p:spPr>
          <a:xfrm>
            <a:off x="502920" y="4343400"/>
            <a:ext cx="4572000" cy="320040"/>
          </a:xfrm>
          <a:prstGeom prst="rect">
            <a:avLst/>
          </a:prstGeom>
          <a:noFill/>
          <a:ln/>
        </p:spPr>
        <p:txBody>
          <a:bodyPr wrap="square" lIns="0" tIns="0" rIns="0" bIns="0" rtlCol="0" anchor="ctr"/>
          <a:lstStyle/>
          <a:p>
            <a:pPr indent="0" marL="0">
              <a:buNone/>
            </a:pPr>
            <a:r>
              <a:rPr lang="en-US" sz="1200" dirty="0">
                <a:solidFill>
                  <a:srgbClr val="92400E"/>
                </a:solidFill>
                <a:latin typeface="Calibri" pitchFamily="34" charset="0"/>
                <a:ea typeface="Calibri" pitchFamily="34" charset="-122"/>
                <a:cs typeface="Calibri" pitchFamily="34" charset="-120"/>
              </a:rPr>
              <a:t>Week 3 of Project Phase  ·  5 Days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F59E0B"/>
          </a:solidFill>
          <a:ln w="12700">
            <a:solidFill>
              <a:srgbClr val="F59E0B"/>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03</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The 5-Day Present Sprint</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F59E0B"/>
                </a:solidFill>
                <a:latin typeface="Calibri" pitchFamily="34" charset="0"/>
                <a:ea typeface="Calibri" pitchFamily="34" charset="-122"/>
                <a:cs typeface="Calibri" pitchFamily="34" charset="-120"/>
              </a:rPr>
              <a:t>Present — Week 3  ·  How the final week runs.</a:t>
            </a:r>
            <a:endParaRPr lang="en-US" sz="1400" dirty="0"/>
          </a:p>
        </p:txBody>
      </p:sp>
      <p:sp>
        <p:nvSpPr>
          <p:cNvPr id="6" name="Shape 4"/>
          <p:cNvSpPr/>
          <p:nvPr/>
        </p:nvSpPr>
        <p:spPr>
          <a:xfrm>
            <a:off x="411480" y="175564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411480" y="1755648"/>
            <a:ext cx="731520" cy="548640"/>
          </a:xfrm>
          <a:prstGeom prst="rect">
            <a:avLst/>
          </a:prstGeom>
          <a:solidFill>
            <a:srgbClr val="3B82F6"/>
          </a:solidFill>
          <a:ln w="12700">
            <a:solidFill>
              <a:srgbClr val="3B82F6"/>
            </a:solidFill>
            <a:prstDash val="solid"/>
          </a:ln>
        </p:spPr>
      </p:sp>
      <p:sp>
        <p:nvSpPr>
          <p:cNvPr id="8" name="Text 6"/>
          <p:cNvSpPr/>
          <p:nvPr/>
        </p:nvSpPr>
        <p:spPr>
          <a:xfrm>
            <a:off x="411480" y="1755648"/>
            <a:ext cx="731520" cy="548640"/>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1</a:t>
            </a:r>
            <a:endParaRPr lang="en-US" sz="1000" dirty="0"/>
          </a:p>
        </p:txBody>
      </p:sp>
      <p:sp>
        <p:nvSpPr>
          <p:cNvPr id="9" name="Text 7"/>
          <p:cNvSpPr/>
          <p:nvPr/>
        </p:nvSpPr>
        <p:spPr>
          <a:xfrm>
            <a:off x="1261872" y="1801368"/>
            <a:ext cx="1280160" cy="237744"/>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Polish</a:t>
            </a:r>
            <a:endParaRPr lang="en-US" sz="1500" dirty="0"/>
          </a:p>
        </p:txBody>
      </p:sp>
      <p:sp>
        <p:nvSpPr>
          <p:cNvPr id="10" name="Text 8"/>
          <p:cNvSpPr/>
          <p:nvPr/>
        </p:nvSpPr>
        <p:spPr>
          <a:xfrm>
            <a:off x="1261872" y="2029968"/>
            <a:ext cx="7278624" cy="219456"/>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Review your Phase 2 output. Fix rough edges, fill documentation gaps, ensure everything works end-to-end.</a:t>
            </a:r>
            <a:endParaRPr lang="en-US" sz="1200" dirty="0"/>
          </a:p>
        </p:txBody>
      </p:sp>
      <p:sp>
        <p:nvSpPr>
          <p:cNvPr id="11" name="Shape 9"/>
          <p:cNvSpPr/>
          <p:nvPr/>
        </p:nvSpPr>
        <p:spPr>
          <a:xfrm>
            <a:off x="411480" y="239572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2" name="Shape 10"/>
          <p:cNvSpPr/>
          <p:nvPr/>
        </p:nvSpPr>
        <p:spPr>
          <a:xfrm>
            <a:off x="411480" y="2395728"/>
            <a:ext cx="731520" cy="548640"/>
          </a:xfrm>
          <a:prstGeom prst="rect">
            <a:avLst/>
          </a:prstGeom>
          <a:solidFill>
            <a:srgbClr val="10B981"/>
          </a:solidFill>
          <a:ln w="12700">
            <a:solidFill>
              <a:srgbClr val="10B981"/>
            </a:solidFill>
            <a:prstDash val="solid"/>
          </a:ln>
        </p:spPr>
      </p:sp>
      <p:sp>
        <p:nvSpPr>
          <p:cNvPr id="13" name="Text 11"/>
          <p:cNvSpPr/>
          <p:nvPr/>
        </p:nvSpPr>
        <p:spPr>
          <a:xfrm>
            <a:off x="411480" y="2395728"/>
            <a:ext cx="731520" cy="548640"/>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2</a:t>
            </a:r>
            <a:endParaRPr lang="en-US" sz="1000" dirty="0"/>
          </a:p>
        </p:txBody>
      </p:sp>
      <p:sp>
        <p:nvSpPr>
          <p:cNvPr id="14" name="Text 12"/>
          <p:cNvSpPr/>
          <p:nvPr/>
        </p:nvSpPr>
        <p:spPr>
          <a:xfrm>
            <a:off x="1261872" y="2441448"/>
            <a:ext cx="1280160" cy="237744"/>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Prepare</a:t>
            </a:r>
            <a:endParaRPr lang="en-US" sz="1500" dirty="0"/>
          </a:p>
        </p:txBody>
      </p:sp>
      <p:sp>
        <p:nvSpPr>
          <p:cNvPr id="15" name="Text 13"/>
          <p:cNvSpPr/>
          <p:nvPr/>
        </p:nvSpPr>
        <p:spPr>
          <a:xfrm>
            <a:off x="1261872" y="2670048"/>
            <a:ext cx="7278624" cy="219456"/>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Build your 10-minute presentation. Structure: Problem → Solution → Demo → Results → Lessons → Next Steps.</a:t>
            </a:r>
            <a:endParaRPr lang="en-US" sz="1200" dirty="0"/>
          </a:p>
        </p:txBody>
      </p:sp>
      <p:sp>
        <p:nvSpPr>
          <p:cNvPr id="16" name="Shape 14"/>
          <p:cNvSpPr/>
          <p:nvPr/>
        </p:nvSpPr>
        <p:spPr>
          <a:xfrm>
            <a:off x="411480" y="303580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7" name="Shape 15"/>
          <p:cNvSpPr/>
          <p:nvPr/>
        </p:nvSpPr>
        <p:spPr>
          <a:xfrm>
            <a:off x="411480" y="3035808"/>
            <a:ext cx="731520" cy="548640"/>
          </a:xfrm>
          <a:prstGeom prst="rect">
            <a:avLst/>
          </a:prstGeom>
          <a:solidFill>
            <a:srgbClr val="F59E0B"/>
          </a:solidFill>
          <a:ln w="12700">
            <a:solidFill>
              <a:srgbClr val="F59E0B"/>
            </a:solidFill>
            <a:prstDash val="solid"/>
          </a:ln>
        </p:spPr>
      </p:sp>
      <p:sp>
        <p:nvSpPr>
          <p:cNvPr id="18" name="Text 16"/>
          <p:cNvSpPr/>
          <p:nvPr/>
        </p:nvSpPr>
        <p:spPr>
          <a:xfrm>
            <a:off x="411480" y="3035808"/>
            <a:ext cx="731520" cy="548640"/>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3</a:t>
            </a:r>
            <a:endParaRPr lang="en-US" sz="1000" dirty="0"/>
          </a:p>
        </p:txBody>
      </p:sp>
      <p:sp>
        <p:nvSpPr>
          <p:cNvPr id="19" name="Text 17"/>
          <p:cNvSpPr/>
          <p:nvPr/>
        </p:nvSpPr>
        <p:spPr>
          <a:xfrm>
            <a:off x="1261872" y="3081528"/>
            <a:ext cx="1280160" cy="237744"/>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Peer Review</a:t>
            </a:r>
            <a:endParaRPr lang="en-US" sz="1500" dirty="0"/>
          </a:p>
        </p:txBody>
      </p:sp>
      <p:sp>
        <p:nvSpPr>
          <p:cNvPr id="20" name="Text 18"/>
          <p:cNvSpPr/>
          <p:nvPr/>
        </p:nvSpPr>
        <p:spPr>
          <a:xfrm>
            <a:off x="1261872" y="3310128"/>
            <a:ext cx="7278624" cy="219456"/>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Present to another team. Give and receive structured feedback. Every team reviews and is reviewed.</a:t>
            </a:r>
            <a:endParaRPr lang="en-US" sz="1200" dirty="0"/>
          </a:p>
        </p:txBody>
      </p:sp>
      <p:sp>
        <p:nvSpPr>
          <p:cNvPr id="21" name="Shape 19"/>
          <p:cNvSpPr/>
          <p:nvPr/>
        </p:nvSpPr>
        <p:spPr>
          <a:xfrm>
            <a:off x="411480" y="367588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2" name="Shape 20"/>
          <p:cNvSpPr/>
          <p:nvPr/>
        </p:nvSpPr>
        <p:spPr>
          <a:xfrm>
            <a:off x="411480" y="3675888"/>
            <a:ext cx="731520" cy="548640"/>
          </a:xfrm>
          <a:prstGeom prst="rect">
            <a:avLst/>
          </a:prstGeom>
          <a:solidFill>
            <a:srgbClr val="3B82F6"/>
          </a:solidFill>
          <a:ln w="12700">
            <a:solidFill>
              <a:srgbClr val="3B82F6"/>
            </a:solidFill>
            <a:prstDash val="solid"/>
          </a:ln>
        </p:spPr>
      </p:sp>
      <p:sp>
        <p:nvSpPr>
          <p:cNvPr id="23" name="Text 21"/>
          <p:cNvSpPr/>
          <p:nvPr/>
        </p:nvSpPr>
        <p:spPr>
          <a:xfrm>
            <a:off x="411480" y="3675888"/>
            <a:ext cx="731520" cy="548640"/>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4</a:t>
            </a:r>
            <a:endParaRPr lang="en-US" sz="1000" dirty="0"/>
          </a:p>
        </p:txBody>
      </p:sp>
      <p:sp>
        <p:nvSpPr>
          <p:cNvPr id="24" name="Text 22"/>
          <p:cNvSpPr/>
          <p:nvPr/>
        </p:nvSpPr>
        <p:spPr>
          <a:xfrm>
            <a:off x="1261872" y="3721608"/>
            <a:ext cx="1280160" cy="237744"/>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Refine</a:t>
            </a:r>
            <a:endParaRPr lang="en-US" sz="1500" dirty="0"/>
          </a:p>
        </p:txBody>
      </p:sp>
      <p:sp>
        <p:nvSpPr>
          <p:cNvPr id="25" name="Text 23"/>
          <p:cNvSpPr/>
          <p:nvPr/>
        </p:nvSpPr>
        <p:spPr>
          <a:xfrm>
            <a:off x="1261872" y="3950208"/>
            <a:ext cx="7278624" cy="219456"/>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Incorporate peer feedback. Final polish of project output and presentation. Freeze — no new features.</a:t>
            </a:r>
            <a:endParaRPr lang="en-US" sz="1200" dirty="0"/>
          </a:p>
        </p:txBody>
      </p:sp>
      <p:sp>
        <p:nvSpPr>
          <p:cNvPr id="26" name="Shape 24"/>
          <p:cNvSpPr/>
          <p:nvPr/>
        </p:nvSpPr>
        <p:spPr>
          <a:xfrm>
            <a:off x="411480" y="431596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7" name="Shape 25"/>
          <p:cNvSpPr/>
          <p:nvPr/>
        </p:nvSpPr>
        <p:spPr>
          <a:xfrm>
            <a:off x="411480" y="4315968"/>
            <a:ext cx="731520" cy="548640"/>
          </a:xfrm>
          <a:prstGeom prst="rect">
            <a:avLst/>
          </a:prstGeom>
          <a:solidFill>
            <a:srgbClr val="F59E0B"/>
          </a:solidFill>
          <a:ln w="12700">
            <a:solidFill>
              <a:srgbClr val="F59E0B"/>
            </a:solidFill>
            <a:prstDash val="solid"/>
          </a:ln>
        </p:spPr>
      </p:sp>
      <p:sp>
        <p:nvSpPr>
          <p:cNvPr id="28" name="Text 26"/>
          <p:cNvSpPr/>
          <p:nvPr/>
        </p:nvSpPr>
        <p:spPr>
          <a:xfrm>
            <a:off x="411480" y="4315968"/>
            <a:ext cx="731520" cy="548640"/>
          </a:xfrm>
          <a:prstGeom prst="rect">
            <a:avLst/>
          </a:prstGeom>
          <a:noFill/>
          <a:ln/>
        </p:spPr>
        <p:txBody>
          <a:bodyPr wrap="square" lIns="0" tIns="0" rIns="0" bIns="0" rtlCol="0" anchor="ctr"/>
          <a:lstStyle/>
          <a:p>
            <a:pPr algn="ctr" indent="0" marL="0">
              <a:buNone/>
            </a:pPr>
            <a:r>
              <a:rPr lang="en-US" sz="1000" b="1" dirty="0">
                <a:solidFill>
                  <a:srgbClr val="0D1117"/>
                </a:solidFill>
                <a:latin typeface="Calibri" pitchFamily="34" charset="0"/>
                <a:ea typeface="Calibri" pitchFamily="34" charset="-122"/>
                <a:cs typeface="Calibri" pitchFamily="34" charset="-120"/>
              </a:rPr>
              <a:t>Day 5</a:t>
            </a:r>
            <a:endParaRPr lang="en-US" sz="1000" dirty="0"/>
          </a:p>
        </p:txBody>
      </p:sp>
      <p:sp>
        <p:nvSpPr>
          <p:cNvPr id="29" name="Text 27"/>
          <p:cNvSpPr/>
          <p:nvPr/>
        </p:nvSpPr>
        <p:spPr>
          <a:xfrm>
            <a:off x="1261872" y="4361688"/>
            <a:ext cx="1280160" cy="237744"/>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Present</a:t>
            </a:r>
            <a:endParaRPr lang="en-US" sz="1500" dirty="0"/>
          </a:p>
        </p:txBody>
      </p:sp>
      <p:sp>
        <p:nvSpPr>
          <p:cNvPr id="30" name="Text 28"/>
          <p:cNvSpPr/>
          <p:nvPr/>
        </p:nvSpPr>
        <p:spPr>
          <a:xfrm>
            <a:off x="1261872" y="4590288"/>
            <a:ext cx="7278624" cy="219456"/>
          </a:xfrm>
          <a:prstGeom prst="rect">
            <a:avLst/>
          </a:prstGeom>
          <a:noFill/>
          <a:ln/>
        </p:spPr>
        <p:txBody>
          <a:bodyPr wrap="square" lIns="0" tIns="0" rIns="0" bIns="0" rtlCol="0" anchor="ctr"/>
          <a:lstStyle/>
          <a:p>
            <a:pPr indent="0" marL="0">
              <a:buNone/>
            </a:pPr>
            <a:r>
              <a:rPr lang="en-US" sz="1200" dirty="0">
                <a:solidFill>
                  <a:srgbClr val="E6EDF3"/>
                </a:solidFill>
                <a:latin typeface="Calibri" pitchFamily="34" charset="0"/>
                <a:ea typeface="Calibri" pitchFamily="34" charset="-122"/>
                <a:cs typeface="Calibri" pitchFamily="34" charset="-120"/>
              </a:rPr>
              <a:t>Final Presentation Day. 10 minutes per team, in front of trainer and invited guests. Portfolio-ready output submitted.</a:t>
            </a:r>
            <a:endParaRPr lang="en-US" sz="1200" dirty="0"/>
          </a:p>
        </p:txBody>
      </p:sp>
      <p:sp>
        <p:nvSpPr>
          <p:cNvPr id="31" name="Text 29"/>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F59E0B"/>
          </a:solidFill>
          <a:ln w="12700">
            <a:solidFill>
              <a:srgbClr val="F59E0B"/>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03</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10-Minute Presentation Structure</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F59E0B"/>
                </a:solidFill>
                <a:latin typeface="Calibri" pitchFamily="34" charset="0"/>
                <a:ea typeface="Calibri" pitchFamily="34" charset="-122"/>
                <a:cs typeface="Calibri" pitchFamily="34" charset="-120"/>
              </a:rPr>
              <a:t>Same structure for all domains. Every section has a purpose and a time limit.</a:t>
            </a:r>
            <a:endParaRPr lang="en-US" sz="1400" dirty="0"/>
          </a:p>
        </p:txBody>
      </p:sp>
      <p:sp>
        <p:nvSpPr>
          <p:cNvPr id="6" name="Shape 4"/>
          <p:cNvSpPr/>
          <p:nvPr/>
        </p:nvSpPr>
        <p:spPr>
          <a:xfrm>
            <a:off x="411480" y="1700784"/>
            <a:ext cx="8321040" cy="521208"/>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502920" y="1792224"/>
            <a:ext cx="365760" cy="365760"/>
          </a:xfrm>
          <a:prstGeom prst="ellipse">
            <a:avLst/>
          </a:prstGeom>
          <a:solidFill>
            <a:srgbClr val="3B82F6"/>
          </a:solidFill>
          <a:ln w="12700">
            <a:solidFill>
              <a:srgbClr val="3B82F6"/>
            </a:solidFill>
            <a:prstDash val="solid"/>
          </a:ln>
        </p:spPr>
      </p:sp>
      <p:sp>
        <p:nvSpPr>
          <p:cNvPr id="8" name="Text 6"/>
          <p:cNvSpPr/>
          <p:nvPr/>
        </p:nvSpPr>
        <p:spPr>
          <a:xfrm>
            <a:off x="502920" y="1792224"/>
            <a:ext cx="365760" cy="365760"/>
          </a:xfrm>
          <a:prstGeom prst="rect">
            <a:avLst/>
          </a:prstGeom>
          <a:noFill/>
          <a:ln/>
        </p:spPr>
        <p:txBody>
          <a:bodyPr wrap="square" lIns="0" tIns="0" rIns="0" bIns="0" rtlCol="0" anchor="ctr"/>
          <a:lstStyle/>
          <a:p>
            <a:pPr algn="ctr" indent="0" marL="0">
              <a:buNone/>
            </a:pPr>
            <a:r>
              <a:rPr lang="en-US" sz="1300" b="1" dirty="0">
                <a:solidFill>
                  <a:srgbClr val="0D1117"/>
                </a:solidFill>
              </a:rPr>
              <a:t>1</a:t>
            </a:r>
            <a:endParaRPr lang="en-US" sz="1300" dirty="0"/>
          </a:p>
        </p:txBody>
      </p:sp>
      <p:sp>
        <p:nvSpPr>
          <p:cNvPr id="9" name="Text 7"/>
          <p:cNvSpPr/>
          <p:nvPr/>
        </p:nvSpPr>
        <p:spPr>
          <a:xfrm>
            <a:off x="1005840" y="1755648"/>
            <a:ext cx="1188720" cy="256032"/>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Problem</a:t>
            </a:r>
            <a:endParaRPr lang="en-US" sz="1500" dirty="0"/>
          </a:p>
        </p:txBody>
      </p:sp>
      <p:sp>
        <p:nvSpPr>
          <p:cNvPr id="10" name="Shape 8"/>
          <p:cNvSpPr/>
          <p:nvPr/>
        </p:nvSpPr>
        <p:spPr>
          <a:xfrm>
            <a:off x="1005840" y="2011680"/>
            <a:ext cx="777240" cy="182880"/>
          </a:xfrm>
          <a:prstGeom prst="rect">
            <a:avLst/>
          </a:prstGeom>
          <a:solidFill>
            <a:srgbClr val="000000"/>
          </a:solidFill>
          <a:ln w="12700">
            <a:solidFill>
              <a:srgbClr val="000000"/>
            </a:solidFill>
            <a:prstDash val="solid"/>
          </a:ln>
        </p:spPr>
      </p:sp>
      <p:sp>
        <p:nvSpPr>
          <p:cNvPr id="11" name="Text 9"/>
          <p:cNvSpPr/>
          <p:nvPr/>
        </p:nvSpPr>
        <p:spPr>
          <a:xfrm>
            <a:off x="1005840" y="2011680"/>
            <a:ext cx="777240" cy="182880"/>
          </a:xfrm>
          <a:prstGeom prst="rect">
            <a:avLst/>
          </a:prstGeom>
          <a:noFill/>
          <a:ln/>
        </p:spPr>
        <p:txBody>
          <a:bodyPr wrap="square" lIns="0" tIns="0" rIns="0" bIns="0" rtlCol="0" anchor="ctr"/>
          <a:lstStyle/>
          <a:p>
            <a:pPr algn="ctr" indent="0" marL="0">
              <a:buNone/>
            </a:pPr>
            <a:r>
              <a:rPr lang="en-US" sz="950" b="1" dirty="0">
                <a:solidFill>
                  <a:srgbClr val="3B82F6"/>
                </a:solidFill>
              </a:rPr>
              <a:t>1 min</a:t>
            </a:r>
            <a:endParaRPr lang="en-US" sz="950" dirty="0"/>
          </a:p>
        </p:txBody>
      </p:sp>
      <p:sp>
        <p:nvSpPr>
          <p:cNvPr id="12" name="Text 10"/>
          <p:cNvSpPr/>
          <p:nvPr/>
        </p:nvSpPr>
        <p:spPr>
          <a:xfrm>
            <a:off x="1901952" y="1773936"/>
            <a:ext cx="6675120" cy="420624"/>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What problem did you solve and for whom? Make the audience feel why it matters.</a:t>
            </a:r>
            <a:endParaRPr lang="en-US" sz="1250" dirty="0"/>
          </a:p>
        </p:txBody>
      </p:sp>
      <p:sp>
        <p:nvSpPr>
          <p:cNvPr id="13" name="Shape 11"/>
          <p:cNvSpPr/>
          <p:nvPr/>
        </p:nvSpPr>
        <p:spPr>
          <a:xfrm>
            <a:off x="411480" y="2276856"/>
            <a:ext cx="8321040" cy="521208"/>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4" name="Shape 12"/>
          <p:cNvSpPr/>
          <p:nvPr/>
        </p:nvSpPr>
        <p:spPr>
          <a:xfrm>
            <a:off x="502920" y="2368296"/>
            <a:ext cx="365760" cy="365760"/>
          </a:xfrm>
          <a:prstGeom prst="ellipse">
            <a:avLst/>
          </a:prstGeom>
          <a:solidFill>
            <a:srgbClr val="10B981"/>
          </a:solidFill>
          <a:ln w="12700">
            <a:solidFill>
              <a:srgbClr val="10B981"/>
            </a:solidFill>
            <a:prstDash val="solid"/>
          </a:ln>
        </p:spPr>
      </p:sp>
      <p:sp>
        <p:nvSpPr>
          <p:cNvPr id="15" name="Text 13"/>
          <p:cNvSpPr/>
          <p:nvPr/>
        </p:nvSpPr>
        <p:spPr>
          <a:xfrm>
            <a:off x="502920" y="2368296"/>
            <a:ext cx="365760" cy="365760"/>
          </a:xfrm>
          <a:prstGeom prst="rect">
            <a:avLst/>
          </a:prstGeom>
          <a:noFill/>
          <a:ln/>
        </p:spPr>
        <p:txBody>
          <a:bodyPr wrap="square" lIns="0" tIns="0" rIns="0" bIns="0" rtlCol="0" anchor="ctr"/>
          <a:lstStyle/>
          <a:p>
            <a:pPr algn="ctr" indent="0" marL="0">
              <a:buNone/>
            </a:pPr>
            <a:r>
              <a:rPr lang="en-US" sz="1300" b="1" dirty="0">
                <a:solidFill>
                  <a:srgbClr val="0D1117"/>
                </a:solidFill>
              </a:rPr>
              <a:t>2</a:t>
            </a:r>
            <a:endParaRPr lang="en-US" sz="1300" dirty="0"/>
          </a:p>
        </p:txBody>
      </p:sp>
      <p:sp>
        <p:nvSpPr>
          <p:cNvPr id="16" name="Text 14"/>
          <p:cNvSpPr/>
          <p:nvPr/>
        </p:nvSpPr>
        <p:spPr>
          <a:xfrm>
            <a:off x="1005840" y="2331720"/>
            <a:ext cx="1188720" cy="256032"/>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Solution</a:t>
            </a:r>
            <a:endParaRPr lang="en-US" sz="1500" dirty="0"/>
          </a:p>
        </p:txBody>
      </p:sp>
      <p:sp>
        <p:nvSpPr>
          <p:cNvPr id="17" name="Shape 15"/>
          <p:cNvSpPr/>
          <p:nvPr/>
        </p:nvSpPr>
        <p:spPr>
          <a:xfrm>
            <a:off x="1005840" y="2587752"/>
            <a:ext cx="777240" cy="182880"/>
          </a:xfrm>
          <a:prstGeom prst="rect">
            <a:avLst/>
          </a:prstGeom>
          <a:solidFill>
            <a:srgbClr val="000000"/>
          </a:solidFill>
          <a:ln w="12700">
            <a:solidFill>
              <a:srgbClr val="000000"/>
            </a:solidFill>
            <a:prstDash val="solid"/>
          </a:ln>
        </p:spPr>
      </p:sp>
      <p:sp>
        <p:nvSpPr>
          <p:cNvPr id="18" name="Text 16"/>
          <p:cNvSpPr/>
          <p:nvPr/>
        </p:nvSpPr>
        <p:spPr>
          <a:xfrm>
            <a:off x="1005840" y="2587752"/>
            <a:ext cx="777240" cy="182880"/>
          </a:xfrm>
          <a:prstGeom prst="rect">
            <a:avLst/>
          </a:prstGeom>
          <a:noFill/>
          <a:ln/>
        </p:spPr>
        <p:txBody>
          <a:bodyPr wrap="square" lIns="0" tIns="0" rIns="0" bIns="0" rtlCol="0" anchor="ctr"/>
          <a:lstStyle/>
          <a:p>
            <a:pPr algn="ctr" indent="0" marL="0">
              <a:buNone/>
            </a:pPr>
            <a:r>
              <a:rPr lang="en-US" sz="950" b="1" dirty="0">
                <a:solidFill>
                  <a:srgbClr val="10B981"/>
                </a:solidFill>
              </a:rPr>
              <a:t>2 min</a:t>
            </a:r>
            <a:endParaRPr lang="en-US" sz="950" dirty="0"/>
          </a:p>
        </p:txBody>
      </p:sp>
      <p:sp>
        <p:nvSpPr>
          <p:cNvPr id="19" name="Text 17"/>
          <p:cNvSpPr/>
          <p:nvPr/>
        </p:nvSpPr>
        <p:spPr>
          <a:xfrm>
            <a:off x="1901952" y="2350008"/>
            <a:ext cx="6675120" cy="420624"/>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What did you build and how does it work? High-level — not code, not jargon.</a:t>
            </a:r>
            <a:endParaRPr lang="en-US" sz="1250" dirty="0"/>
          </a:p>
        </p:txBody>
      </p:sp>
      <p:sp>
        <p:nvSpPr>
          <p:cNvPr id="20" name="Shape 18"/>
          <p:cNvSpPr/>
          <p:nvPr/>
        </p:nvSpPr>
        <p:spPr>
          <a:xfrm>
            <a:off x="411480" y="2852928"/>
            <a:ext cx="8321040" cy="521208"/>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1" name="Shape 19"/>
          <p:cNvSpPr/>
          <p:nvPr/>
        </p:nvSpPr>
        <p:spPr>
          <a:xfrm>
            <a:off x="502920" y="2944368"/>
            <a:ext cx="365760" cy="365760"/>
          </a:xfrm>
          <a:prstGeom prst="ellipse">
            <a:avLst/>
          </a:prstGeom>
          <a:solidFill>
            <a:srgbClr val="F59E0B"/>
          </a:solidFill>
          <a:ln w="12700">
            <a:solidFill>
              <a:srgbClr val="F59E0B"/>
            </a:solidFill>
            <a:prstDash val="solid"/>
          </a:ln>
        </p:spPr>
      </p:sp>
      <p:sp>
        <p:nvSpPr>
          <p:cNvPr id="22" name="Text 20"/>
          <p:cNvSpPr/>
          <p:nvPr/>
        </p:nvSpPr>
        <p:spPr>
          <a:xfrm>
            <a:off x="502920" y="2944368"/>
            <a:ext cx="365760" cy="365760"/>
          </a:xfrm>
          <a:prstGeom prst="rect">
            <a:avLst/>
          </a:prstGeom>
          <a:noFill/>
          <a:ln/>
        </p:spPr>
        <p:txBody>
          <a:bodyPr wrap="square" lIns="0" tIns="0" rIns="0" bIns="0" rtlCol="0" anchor="ctr"/>
          <a:lstStyle/>
          <a:p>
            <a:pPr algn="ctr" indent="0" marL="0">
              <a:buNone/>
            </a:pPr>
            <a:r>
              <a:rPr lang="en-US" sz="1300" b="1" dirty="0">
                <a:solidFill>
                  <a:srgbClr val="0D1117"/>
                </a:solidFill>
              </a:rPr>
              <a:t>3</a:t>
            </a:r>
            <a:endParaRPr lang="en-US" sz="1300" dirty="0"/>
          </a:p>
        </p:txBody>
      </p:sp>
      <p:sp>
        <p:nvSpPr>
          <p:cNvPr id="23" name="Text 21"/>
          <p:cNvSpPr/>
          <p:nvPr/>
        </p:nvSpPr>
        <p:spPr>
          <a:xfrm>
            <a:off x="1005840" y="2907792"/>
            <a:ext cx="1188720" cy="256032"/>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Demo</a:t>
            </a:r>
            <a:endParaRPr lang="en-US" sz="1500" dirty="0"/>
          </a:p>
        </p:txBody>
      </p:sp>
      <p:sp>
        <p:nvSpPr>
          <p:cNvPr id="24" name="Shape 22"/>
          <p:cNvSpPr/>
          <p:nvPr/>
        </p:nvSpPr>
        <p:spPr>
          <a:xfrm>
            <a:off x="1005840" y="3163824"/>
            <a:ext cx="777240" cy="182880"/>
          </a:xfrm>
          <a:prstGeom prst="rect">
            <a:avLst/>
          </a:prstGeom>
          <a:solidFill>
            <a:srgbClr val="000000"/>
          </a:solidFill>
          <a:ln w="12700">
            <a:solidFill>
              <a:srgbClr val="000000"/>
            </a:solidFill>
            <a:prstDash val="solid"/>
          </a:ln>
        </p:spPr>
      </p:sp>
      <p:sp>
        <p:nvSpPr>
          <p:cNvPr id="25" name="Text 23"/>
          <p:cNvSpPr/>
          <p:nvPr/>
        </p:nvSpPr>
        <p:spPr>
          <a:xfrm>
            <a:off x="1005840" y="3163824"/>
            <a:ext cx="777240" cy="182880"/>
          </a:xfrm>
          <a:prstGeom prst="rect">
            <a:avLst/>
          </a:prstGeom>
          <a:noFill/>
          <a:ln/>
        </p:spPr>
        <p:txBody>
          <a:bodyPr wrap="square" lIns="0" tIns="0" rIns="0" bIns="0" rtlCol="0" anchor="ctr"/>
          <a:lstStyle/>
          <a:p>
            <a:pPr algn="ctr" indent="0" marL="0">
              <a:buNone/>
            </a:pPr>
            <a:r>
              <a:rPr lang="en-US" sz="950" b="1" dirty="0">
                <a:solidFill>
                  <a:srgbClr val="F59E0B"/>
                </a:solidFill>
              </a:rPr>
              <a:t>3 min</a:t>
            </a:r>
            <a:endParaRPr lang="en-US" sz="950" dirty="0"/>
          </a:p>
        </p:txBody>
      </p:sp>
      <p:sp>
        <p:nvSpPr>
          <p:cNvPr id="26" name="Text 24"/>
          <p:cNvSpPr/>
          <p:nvPr/>
        </p:nvSpPr>
        <p:spPr>
          <a:xfrm>
            <a:off x="1901952" y="2926080"/>
            <a:ext cx="6675120" cy="420624"/>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Show the working output live. This is the most important section. If it does not work live, it does not count.</a:t>
            </a:r>
            <a:endParaRPr lang="en-US" sz="1250" dirty="0"/>
          </a:p>
        </p:txBody>
      </p:sp>
      <p:sp>
        <p:nvSpPr>
          <p:cNvPr id="27" name="Shape 25"/>
          <p:cNvSpPr/>
          <p:nvPr/>
        </p:nvSpPr>
        <p:spPr>
          <a:xfrm>
            <a:off x="411480" y="3429000"/>
            <a:ext cx="8321040" cy="521208"/>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8" name="Shape 26"/>
          <p:cNvSpPr/>
          <p:nvPr/>
        </p:nvSpPr>
        <p:spPr>
          <a:xfrm>
            <a:off x="502920" y="3520440"/>
            <a:ext cx="365760" cy="365760"/>
          </a:xfrm>
          <a:prstGeom prst="ellipse">
            <a:avLst/>
          </a:prstGeom>
          <a:solidFill>
            <a:srgbClr val="3B82F6"/>
          </a:solidFill>
          <a:ln w="12700">
            <a:solidFill>
              <a:srgbClr val="3B82F6"/>
            </a:solidFill>
            <a:prstDash val="solid"/>
          </a:ln>
        </p:spPr>
      </p:sp>
      <p:sp>
        <p:nvSpPr>
          <p:cNvPr id="29" name="Text 27"/>
          <p:cNvSpPr/>
          <p:nvPr/>
        </p:nvSpPr>
        <p:spPr>
          <a:xfrm>
            <a:off x="502920" y="3520440"/>
            <a:ext cx="365760" cy="365760"/>
          </a:xfrm>
          <a:prstGeom prst="rect">
            <a:avLst/>
          </a:prstGeom>
          <a:noFill/>
          <a:ln/>
        </p:spPr>
        <p:txBody>
          <a:bodyPr wrap="square" lIns="0" tIns="0" rIns="0" bIns="0" rtlCol="0" anchor="ctr"/>
          <a:lstStyle/>
          <a:p>
            <a:pPr algn="ctr" indent="0" marL="0">
              <a:buNone/>
            </a:pPr>
            <a:r>
              <a:rPr lang="en-US" sz="1300" b="1" dirty="0">
                <a:solidFill>
                  <a:srgbClr val="0D1117"/>
                </a:solidFill>
              </a:rPr>
              <a:t>4</a:t>
            </a:r>
            <a:endParaRPr lang="en-US" sz="1300" dirty="0"/>
          </a:p>
        </p:txBody>
      </p:sp>
      <p:sp>
        <p:nvSpPr>
          <p:cNvPr id="30" name="Text 28"/>
          <p:cNvSpPr/>
          <p:nvPr/>
        </p:nvSpPr>
        <p:spPr>
          <a:xfrm>
            <a:off x="1005840" y="3483864"/>
            <a:ext cx="1188720" cy="256032"/>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Results</a:t>
            </a:r>
            <a:endParaRPr lang="en-US" sz="1500" dirty="0"/>
          </a:p>
        </p:txBody>
      </p:sp>
      <p:sp>
        <p:nvSpPr>
          <p:cNvPr id="31" name="Shape 29"/>
          <p:cNvSpPr/>
          <p:nvPr/>
        </p:nvSpPr>
        <p:spPr>
          <a:xfrm>
            <a:off x="1005840" y="3739896"/>
            <a:ext cx="777240" cy="182880"/>
          </a:xfrm>
          <a:prstGeom prst="rect">
            <a:avLst/>
          </a:prstGeom>
          <a:solidFill>
            <a:srgbClr val="000000"/>
          </a:solidFill>
          <a:ln w="12700">
            <a:solidFill>
              <a:srgbClr val="000000"/>
            </a:solidFill>
            <a:prstDash val="solid"/>
          </a:ln>
        </p:spPr>
      </p:sp>
      <p:sp>
        <p:nvSpPr>
          <p:cNvPr id="32" name="Text 30"/>
          <p:cNvSpPr/>
          <p:nvPr/>
        </p:nvSpPr>
        <p:spPr>
          <a:xfrm>
            <a:off x="1005840" y="3739896"/>
            <a:ext cx="777240" cy="182880"/>
          </a:xfrm>
          <a:prstGeom prst="rect">
            <a:avLst/>
          </a:prstGeom>
          <a:noFill/>
          <a:ln/>
        </p:spPr>
        <p:txBody>
          <a:bodyPr wrap="square" lIns="0" tIns="0" rIns="0" bIns="0" rtlCol="0" anchor="ctr"/>
          <a:lstStyle/>
          <a:p>
            <a:pPr algn="ctr" indent="0" marL="0">
              <a:buNone/>
            </a:pPr>
            <a:r>
              <a:rPr lang="en-US" sz="950" b="1" dirty="0">
                <a:solidFill>
                  <a:srgbClr val="3B82F6"/>
                </a:solidFill>
              </a:rPr>
              <a:t>2 min</a:t>
            </a:r>
            <a:endParaRPr lang="en-US" sz="950" dirty="0"/>
          </a:p>
        </p:txBody>
      </p:sp>
      <p:sp>
        <p:nvSpPr>
          <p:cNvPr id="33" name="Text 31"/>
          <p:cNvSpPr/>
          <p:nvPr/>
        </p:nvSpPr>
        <p:spPr>
          <a:xfrm>
            <a:off x="1901952" y="3502152"/>
            <a:ext cx="6675120" cy="420624"/>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Metrics, findings, or performance numbers. What changed? What improved? Use data.</a:t>
            </a:r>
            <a:endParaRPr lang="en-US" sz="1250" dirty="0"/>
          </a:p>
        </p:txBody>
      </p:sp>
      <p:sp>
        <p:nvSpPr>
          <p:cNvPr id="34" name="Shape 32"/>
          <p:cNvSpPr/>
          <p:nvPr/>
        </p:nvSpPr>
        <p:spPr>
          <a:xfrm>
            <a:off x="411480" y="4005072"/>
            <a:ext cx="8321040" cy="521208"/>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35" name="Shape 33"/>
          <p:cNvSpPr/>
          <p:nvPr/>
        </p:nvSpPr>
        <p:spPr>
          <a:xfrm>
            <a:off x="502920" y="4096512"/>
            <a:ext cx="365760" cy="365760"/>
          </a:xfrm>
          <a:prstGeom prst="ellipse">
            <a:avLst/>
          </a:prstGeom>
          <a:solidFill>
            <a:srgbClr val="10B981"/>
          </a:solidFill>
          <a:ln w="12700">
            <a:solidFill>
              <a:srgbClr val="10B981"/>
            </a:solidFill>
            <a:prstDash val="solid"/>
          </a:ln>
        </p:spPr>
      </p:sp>
      <p:sp>
        <p:nvSpPr>
          <p:cNvPr id="36" name="Text 34"/>
          <p:cNvSpPr/>
          <p:nvPr/>
        </p:nvSpPr>
        <p:spPr>
          <a:xfrm>
            <a:off x="502920" y="4096512"/>
            <a:ext cx="365760" cy="365760"/>
          </a:xfrm>
          <a:prstGeom prst="rect">
            <a:avLst/>
          </a:prstGeom>
          <a:noFill/>
          <a:ln/>
        </p:spPr>
        <p:txBody>
          <a:bodyPr wrap="square" lIns="0" tIns="0" rIns="0" bIns="0" rtlCol="0" anchor="ctr"/>
          <a:lstStyle/>
          <a:p>
            <a:pPr algn="ctr" indent="0" marL="0">
              <a:buNone/>
            </a:pPr>
            <a:r>
              <a:rPr lang="en-US" sz="1300" b="1" dirty="0">
                <a:solidFill>
                  <a:srgbClr val="0D1117"/>
                </a:solidFill>
              </a:rPr>
              <a:t>5</a:t>
            </a:r>
            <a:endParaRPr lang="en-US" sz="1300" dirty="0"/>
          </a:p>
        </p:txBody>
      </p:sp>
      <p:sp>
        <p:nvSpPr>
          <p:cNvPr id="37" name="Text 35"/>
          <p:cNvSpPr/>
          <p:nvPr/>
        </p:nvSpPr>
        <p:spPr>
          <a:xfrm>
            <a:off x="1005840" y="4059936"/>
            <a:ext cx="1188720" cy="256032"/>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Lessons</a:t>
            </a:r>
            <a:endParaRPr lang="en-US" sz="1500" dirty="0"/>
          </a:p>
        </p:txBody>
      </p:sp>
      <p:sp>
        <p:nvSpPr>
          <p:cNvPr id="38" name="Shape 36"/>
          <p:cNvSpPr/>
          <p:nvPr/>
        </p:nvSpPr>
        <p:spPr>
          <a:xfrm>
            <a:off x="1005840" y="4315968"/>
            <a:ext cx="777240" cy="182880"/>
          </a:xfrm>
          <a:prstGeom prst="rect">
            <a:avLst/>
          </a:prstGeom>
          <a:solidFill>
            <a:srgbClr val="000000"/>
          </a:solidFill>
          <a:ln w="12700">
            <a:solidFill>
              <a:srgbClr val="000000"/>
            </a:solidFill>
            <a:prstDash val="solid"/>
          </a:ln>
        </p:spPr>
      </p:sp>
      <p:sp>
        <p:nvSpPr>
          <p:cNvPr id="39" name="Text 37"/>
          <p:cNvSpPr/>
          <p:nvPr/>
        </p:nvSpPr>
        <p:spPr>
          <a:xfrm>
            <a:off x="1005840" y="4315968"/>
            <a:ext cx="777240" cy="182880"/>
          </a:xfrm>
          <a:prstGeom prst="rect">
            <a:avLst/>
          </a:prstGeom>
          <a:noFill/>
          <a:ln/>
        </p:spPr>
        <p:txBody>
          <a:bodyPr wrap="square" lIns="0" tIns="0" rIns="0" bIns="0" rtlCol="0" anchor="ctr"/>
          <a:lstStyle/>
          <a:p>
            <a:pPr algn="ctr" indent="0" marL="0">
              <a:buNone/>
            </a:pPr>
            <a:r>
              <a:rPr lang="en-US" sz="950" b="1" dirty="0">
                <a:solidFill>
                  <a:srgbClr val="10B981"/>
                </a:solidFill>
              </a:rPr>
              <a:t>1 min</a:t>
            </a:r>
            <a:endParaRPr lang="en-US" sz="950" dirty="0"/>
          </a:p>
        </p:txBody>
      </p:sp>
      <p:sp>
        <p:nvSpPr>
          <p:cNvPr id="40" name="Text 38"/>
          <p:cNvSpPr/>
          <p:nvPr/>
        </p:nvSpPr>
        <p:spPr>
          <a:xfrm>
            <a:off x="1901952" y="4078224"/>
            <a:ext cx="6675120" cy="420624"/>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What would you do differently with the benefit of hindsight? Honest reflection builds credibility.</a:t>
            </a:r>
            <a:endParaRPr lang="en-US" sz="1250" dirty="0"/>
          </a:p>
        </p:txBody>
      </p:sp>
      <p:sp>
        <p:nvSpPr>
          <p:cNvPr id="41" name="Shape 39"/>
          <p:cNvSpPr/>
          <p:nvPr/>
        </p:nvSpPr>
        <p:spPr>
          <a:xfrm>
            <a:off x="411480" y="4581144"/>
            <a:ext cx="8321040" cy="521208"/>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42" name="Shape 40"/>
          <p:cNvSpPr/>
          <p:nvPr/>
        </p:nvSpPr>
        <p:spPr>
          <a:xfrm>
            <a:off x="502920" y="4672584"/>
            <a:ext cx="365760" cy="365760"/>
          </a:xfrm>
          <a:prstGeom prst="ellipse">
            <a:avLst/>
          </a:prstGeom>
          <a:solidFill>
            <a:srgbClr val="F59E0B"/>
          </a:solidFill>
          <a:ln w="12700">
            <a:solidFill>
              <a:srgbClr val="F59E0B"/>
            </a:solidFill>
            <a:prstDash val="solid"/>
          </a:ln>
        </p:spPr>
      </p:sp>
      <p:sp>
        <p:nvSpPr>
          <p:cNvPr id="43" name="Text 41"/>
          <p:cNvSpPr/>
          <p:nvPr/>
        </p:nvSpPr>
        <p:spPr>
          <a:xfrm>
            <a:off x="502920" y="4672584"/>
            <a:ext cx="365760" cy="365760"/>
          </a:xfrm>
          <a:prstGeom prst="rect">
            <a:avLst/>
          </a:prstGeom>
          <a:noFill/>
          <a:ln/>
        </p:spPr>
        <p:txBody>
          <a:bodyPr wrap="square" lIns="0" tIns="0" rIns="0" bIns="0" rtlCol="0" anchor="ctr"/>
          <a:lstStyle/>
          <a:p>
            <a:pPr algn="ctr" indent="0" marL="0">
              <a:buNone/>
            </a:pPr>
            <a:r>
              <a:rPr lang="en-US" sz="1300" b="1" dirty="0">
                <a:solidFill>
                  <a:srgbClr val="0D1117"/>
                </a:solidFill>
              </a:rPr>
              <a:t>6</a:t>
            </a:r>
            <a:endParaRPr lang="en-US" sz="1300" dirty="0"/>
          </a:p>
        </p:txBody>
      </p:sp>
      <p:sp>
        <p:nvSpPr>
          <p:cNvPr id="44" name="Text 42"/>
          <p:cNvSpPr/>
          <p:nvPr/>
        </p:nvSpPr>
        <p:spPr>
          <a:xfrm>
            <a:off x="1005840" y="4636008"/>
            <a:ext cx="1188720" cy="256032"/>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Next Steps</a:t>
            </a:r>
            <a:endParaRPr lang="en-US" sz="1500" dirty="0"/>
          </a:p>
        </p:txBody>
      </p:sp>
      <p:sp>
        <p:nvSpPr>
          <p:cNvPr id="45" name="Shape 43"/>
          <p:cNvSpPr/>
          <p:nvPr/>
        </p:nvSpPr>
        <p:spPr>
          <a:xfrm>
            <a:off x="1005840" y="4892040"/>
            <a:ext cx="777240" cy="182880"/>
          </a:xfrm>
          <a:prstGeom prst="rect">
            <a:avLst/>
          </a:prstGeom>
          <a:solidFill>
            <a:srgbClr val="000000"/>
          </a:solidFill>
          <a:ln w="12700">
            <a:solidFill>
              <a:srgbClr val="000000"/>
            </a:solidFill>
            <a:prstDash val="solid"/>
          </a:ln>
        </p:spPr>
      </p:sp>
      <p:sp>
        <p:nvSpPr>
          <p:cNvPr id="46" name="Text 44"/>
          <p:cNvSpPr/>
          <p:nvPr/>
        </p:nvSpPr>
        <p:spPr>
          <a:xfrm>
            <a:off x="1005840" y="4892040"/>
            <a:ext cx="777240" cy="182880"/>
          </a:xfrm>
          <a:prstGeom prst="rect">
            <a:avLst/>
          </a:prstGeom>
          <a:noFill/>
          <a:ln/>
        </p:spPr>
        <p:txBody>
          <a:bodyPr wrap="square" lIns="0" tIns="0" rIns="0" bIns="0" rtlCol="0" anchor="ctr"/>
          <a:lstStyle/>
          <a:p>
            <a:pPr algn="ctr" indent="0" marL="0">
              <a:buNone/>
            </a:pPr>
            <a:r>
              <a:rPr lang="en-US" sz="950" b="1" dirty="0">
                <a:solidFill>
                  <a:srgbClr val="F59E0B"/>
                </a:solidFill>
              </a:rPr>
              <a:t>1 min</a:t>
            </a:r>
            <a:endParaRPr lang="en-US" sz="950" dirty="0"/>
          </a:p>
        </p:txBody>
      </p:sp>
      <p:sp>
        <p:nvSpPr>
          <p:cNvPr id="47" name="Text 45"/>
          <p:cNvSpPr/>
          <p:nvPr/>
        </p:nvSpPr>
        <p:spPr>
          <a:xfrm>
            <a:off x="1901952" y="4654296"/>
            <a:ext cx="6675120" cy="420624"/>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If you had 3 more weeks, what would you build next? Shows product thinking.</a:t>
            </a:r>
            <a:endParaRPr lang="en-US" sz="1250" dirty="0"/>
          </a:p>
        </p:txBody>
      </p:sp>
      <p:sp>
        <p:nvSpPr>
          <p:cNvPr id="48" name="Text 46"/>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1463040" cy="329184"/>
          </a:xfrm>
          <a:prstGeom prst="rect">
            <a:avLst/>
          </a:prstGeom>
          <a:solidFill>
            <a:srgbClr val="F59E0B"/>
          </a:solidFill>
          <a:ln w="12700">
            <a:solidFill>
              <a:srgbClr val="F59E0B"/>
            </a:solidFill>
            <a:prstDash val="solid"/>
          </a:ln>
        </p:spPr>
      </p:sp>
      <p:sp>
        <p:nvSpPr>
          <p:cNvPr id="3" name="Text 1"/>
          <p:cNvSpPr/>
          <p:nvPr/>
        </p:nvSpPr>
        <p:spPr>
          <a:xfrm>
            <a:off x="502920" y="347472"/>
            <a:ext cx="1463040" cy="329184"/>
          </a:xfrm>
          <a:prstGeom prst="rect">
            <a:avLst/>
          </a:prstGeom>
          <a:noFill/>
          <a:ln/>
        </p:spPr>
        <p:txBody>
          <a:bodyPr wrap="square" lIns="0" tIns="0" rIns="0" bIns="0" rtlCol="0" anchor="ctr"/>
          <a:lstStyle/>
          <a:p>
            <a:pPr algn="ctr" indent="0" marL="0">
              <a:buNone/>
            </a:pPr>
            <a:r>
              <a:rPr lang="en-US" sz="900" b="1" spc="200" kern="0" dirty="0">
                <a:solidFill>
                  <a:srgbClr val="0D1117"/>
                </a:solidFill>
              </a:rPr>
              <a:t>PHASE 03</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Final Deliverables by Domain</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F59E0B"/>
                </a:solidFill>
                <a:latin typeface="Calibri" pitchFamily="34" charset="0"/>
                <a:ea typeface="Calibri" pitchFamily="34" charset="-122"/>
                <a:cs typeface="Calibri" pitchFamily="34" charset="-120"/>
              </a:rPr>
              <a:t>What each track must submit before the final presentation begins.</a:t>
            </a:r>
            <a:endParaRPr lang="en-US" sz="1400" dirty="0"/>
          </a:p>
        </p:txBody>
      </p:sp>
      <p:sp>
        <p:nvSpPr>
          <p:cNvPr id="6" name="Shape 4"/>
          <p:cNvSpPr/>
          <p:nvPr/>
        </p:nvSpPr>
        <p:spPr>
          <a:xfrm>
            <a:off x="411480" y="1737360"/>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411480" y="1737360"/>
            <a:ext cx="64008" cy="548640"/>
          </a:xfrm>
          <a:prstGeom prst="rect">
            <a:avLst/>
          </a:prstGeom>
          <a:solidFill>
            <a:srgbClr val="3B82F6"/>
          </a:solidFill>
          <a:ln w="12700">
            <a:solidFill>
              <a:srgbClr val="3B82F6"/>
            </a:solidFill>
            <a:prstDash val="solid"/>
          </a:ln>
        </p:spPr>
      </p:sp>
      <p:sp>
        <p:nvSpPr>
          <p:cNvPr id="8" name="Shape 6"/>
          <p:cNvSpPr/>
          <p:nvPr/>
        </p:nvSpPr>
        <p:spPr>
          <a:xfrm>
            <a:off x="548640" y="1828800"/>
            <a:ext cx="1280160" cy="365760"/>
          </a:xfrm>
          <a:prstGeom prst="rect">
            <a:avLst/>
          </a:prstGeom>
          <a:solidFill>
            <a:srgbClr val="000000"/>
          </a:solidFill>
          <a:ln w="12700">
            <a:solidFill>
              <a:srgbClr val="000000"/>
            </a:solidFill>
            <a:prstDash val="solid"/>
          </a:ln>
        </p:spPr>
      </p:sp>
      <p:sp>
        <p:nvSpPr>
          <p:cNvPr id="9" name="Text 7"/>
          <p:cNvSpPr/>
          <p:nvPr/>
        </p:nvSpPr>
        <p:spPr>
          <a:xfrm>
            <a:off x="548640" y="1828800"/>
            <a:ext cx="1280160" cy="365760"/>
          </a:xfrm>
          <a:prstGeom prst="rect">
            <a:avLst/>
          </a:prstGeom>
          <a:noFill/>
          <a:ln/>
        </p:spPr>
        <p:txBody>
          <a:bodyPr wrap="square" lIns="0" tIns="0" rIns="0" bIns="0" rtlCol="0" anchor="ctr"/>
          <a:lstStyle/>
          <a:p>
            <a:pPr algn="ctr" indent="0" marL="0">
              <a:buNone/>
            </a:pPr>
            <a:r>
              <a:rPr lang="en-US" sz="1150" b="1" dirty="0">
                <a:solidFill>
                  <a:srgbClr val="3B82F6"/>
                </a:solidFill>
                <a:latin typeface="Calibri" pitchFamily="34" charset="0"/>
                <a:ea typeface="Calibri" pitchFamily="34" charset="-122"/>
                <a:cs typeface="Calibri" pitchFamily="34" charset="-120"/>
              </a:rPr>
              <a:t>IT IGNITE</a:t>
            </a:r>
            <a:endParaRPr lang="en-US" sz="1150" dirty="0"/>
          </a:p>
        </p:txBody>
      </p:sp>
      <p:sp>
        <p:nvSpPr>
          <p:cNvPr id="10" name="Text 8"/>
          <p:cNvSpPr/>
          <p:nvPr/>
        </p:nvSpPr>
        <p:spPr>
          <a:xfrm>
            <a:off x="1975104" y="1828800"/>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Live GitHub repo + clean README + deployed app link (if applicable) + 3-minute demo video</a:t>
            </a:r>
            <a:endParaRPr lang="en-US" sz="1250" dirty="0"/>
          </a:p>
        </p:txBody>
      </p:sp>
      <p:sp>
        <p:nvSpPr>
          <p:cNvPr id="11" name="Shape 9"/>
          <p:cNvSpPr/>
          <p:nvPr/>
        </p:nvSpPr>
        <p:spPr>
          <a:xfrm>
            <a:off x="411480" y="2395728"/>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2" name="Shape 10"/>
          <p:cNvSpPr/>
          <p:nvPr/>
        </p:nvSpPr>
        <p:spPr>
          <a:xfrm>
            <a:off x="411480" y="2395728"/>
            <a:ext cx="64008" cy="548640"/>
          </a:xfrm>
          <a:prstGeom prst="rect">
            <a:avLst/>
          </a:prstGeom>
          <a:solidFill>
            <a:srgbClr val="10B981"/>
          </a:solidFill>
          <a:ln w="12700">
            <a:solidFill>
              <a:srgbClr val="10B981"/>
            </a:solidFill>
            <a:prstDash val="solid"/>
          </a:ln>
        </p:spPr>
      </p:sp>
      <p:sp>
        <p:nvSpPr>
          <p:cNvPr id="13" name="Shape 11"/>
          <p:cNvSpPr/>
          <p:nvPr/>
        </p:nvSpPr>
        <p:spPr>
          <a:xfrm>
            <a:off x="548640" y="2487168"/>
            <a:ext cx="1280160" cy="365760"/>
          </a:xfrm>
          <a:prstGeom prst="rect">
            <a:avLst/>
          </a:prstGeom>
          <a:solidFill>
            <a:srgbClr val="000000"/>
          </a:solidFill>
          <a:ln w="12700">
            <a:solidFill>
              <a:srgbClr val="000000"/>
            </a:solidFill>
            <a:prstDash val="solid"/>
          </a:ln>
        </p:spPr>
      </p:sp>
      <p:sp>
        <p:nvSpPr>
          <p:cNvPr id="14" name="Text 12"/>
          <p:cNvSpPr/>
          <p:nvPr/>
        </p:nvSpPr>
        <p:spPr>
          <a:xfrm>
            <a:off x="548640" y="2487168"/>
            <a:ext cx="1280160" cy="365760"/>
          </a:xfrm>
          <a:prstGeom prst="rect">
            <a:avLst/>
          </a:prstGeom>
          <a:noFill/>
          <a:ln/>
        </p:spPr>
        <p:txBody>
          <a:bodyPr wrap="square" lIns="0" tIns="0" rIns="0" bIns="0" rtlCol="0" anchor="ctr"/>
          <a:lstStyle/>
          <a:p>
            <a:pPr algn="ctr" indent="0" marL="0">
              <a:buNone/>
            </a:pPr>
            <a:r>
              <a:rPr lang="en-US" sz="1150" b="1" dirty="0">
                <a:solidFill>
                  <a:srgbClr val="10B981"/>
                </a:solidFill>
                <a:latin typeface="Calibri" pitchFamily="34" charset="0"/>
                <a:ea typeface="Calibri" pitchFamily="34" charset="-122"/>
                <a:cs typeface="Calibri" pitchFamily="34" charset="-120"/>
              </a:rPr>
              <a:t>AI / ML</a:t>
            </a:r>
            <a:endParaRPr lang="en-US" sz="1150" dirty="0"/>
          </a:p>
        </p:txBody>
      </p:sp>
      <p:sp>
        <p:nvSpPr>
          <p:cNvPr id="15" name="Text 13"/>
          <p:cNvSpPr/>
          <p:nvPr/>
        </p:nvSpPr>
        <p:spPr>
          <a:xfrm>
            <a:off x="1975104" y="2487168"/>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Model card + clean commented Jupyter notebook + performance comparison table + GitHub repo</a:t>
            </a:r>
            <a:endParaRPr lang="en-US" sz="1250" dirty="0"/>
          </a:p>
        </p:txBody>
      </p:sp>
      <p:sp>
        <p:nvSpPr>
          <p:cNvPr id="16" name="Shape 14"/>
          <p:cNvSpPr/>
          <p:nvPr/>
        </p:nvSpPr>
        <p:spPr>
          <a:xfrm>
            <a:off x="411480" y="3054096"/>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17" name="Shape 15"/>
          <p:cNvSpPr/>
          <p:nvPr/>
        </p:nvSpPr>
        <p:spPr>
          <a:xfrm>
            <a:off x="411480" y="3054096"/>
            <a:ext cx="64008" cy="548640"/>
          </a:xfrm>
          <a:prstGeom prst="rect">
            <a:avLst/>
          </a:prstGeom>
          <a:solidFill>
            <a:srgbClr val="F59E0B"/>
          </a:solidFill>
          <a:ln w="12700">
            <a:solidFill>
              <a:srgbClr val="F59E0B"/>
            </a:solidFill>
            <a:prstDash val="solid"/>
          </a:ln>
        </p:spPr>
      </p:sp>
      <p:sp>
        <p:nvSpPr>
          <p:cNvPr id="18" name="Shape 16"/>
          <p:cNvSpPr/>
          <p:nvPr/>
        </p:nvSpPr>
        <p:spPr>
          <a:xfrm>
            <a:off x="548640" y="3145536"/>
            <a:ext cx="1280160" cy="365760"/>
          </a:xfrm>
          <a:prstGeom prst="rect">
            <a:avLst/>
          </a:prstGeom>
          <a:solidFill>
            <a:srgbClr val="000000"/>
          </a:solidFill>
          <a:ln w="12700">
            <a:solidFill>
              <a:srgbClr val="000000"/>
            </a:solidFill>
            <a:prstDash val="solid"/>
          </a:ln>
        </p:spPr>
      </p:sp>
      <p:sp>
        <p:nvSpPr>
          <p:cNvPr id="19" name="Text 17"/>
          <p:cNvSpPr/>
          <p:nvPr/>
        </p:nvSpPr>
        <p:spPr>
          <a:xfrm>
            <a:off x="548640" y="3145536"/>
            <a:ext cx="1280160" cy="365760"/>
          </a:xfrm>
          <a:prstGeom prst="rect">
            <a:avLst/>
          </a:prstGeom>
          <a:noFill/>
          <a:ln/>
        </p:spPr>
        <p:txBody>
          <a:bodyPr wrap="square" lIns="0" tIns="0" rIns="0" bIns="0" rtlCol="0" anchor="ctr"/>
          <a:lstStyle/>
          <a:p>
            <a:pPr algn="ctr" indent="0" marL="0">
              <a:buNone/>
            </a:pPr>
            <a:r>
              <a:rPr lang="en-US" sz="1150" b="1" dirty="0">
                <a:solidFill>
                  <a:srgbClr val="F59E0B"/>
                </a:solidFill>
                <a:latin typeface="Calibri" pitchFamily="34" charset="0"/>
                <a:ea typeface="Calibri" pitchFamily="34" charset="-122"/>
                <a:cs typeface="Calibri" pitchFamily="34" charset="-120"/>
              </a:rPr>
              <a:t>AI Data Analyst</a:t>
            </a:r>
            <a:endParaRPr lang="en-US" sz="1150" dirty="0"/>
          </a:p>
        </p:txBody>
      </p:sp>
      <p:sp>
        <p:nvSpPr>
          <p:cNvPr id="20" name="Text 18"/>
          <p:cNvSpPr/>
          <p:nvPr/>
        </p:nvSpPr>
        <p:spPr>
          <a:xfrm>
            <a:off x="1975104" y="3145536"/>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Insight report (PDF) + dashboard link or screenshots + clean analysis notebook</a:t>
            </a:r>
            <a:endParaRPr lang="en-US" sz="1250" dirty="0"/>
          </a:p>
        </p:txBody>
      </p:sp>
      <p:sp>
        <p:nvSpPr>
          <p:cNvPr id="21" name="Shape 19"/>
          <p:cNvSpPr/>
          <p:nvPr/>
        </p:nvSpPr>
        <p:spPr>
          <a:xfrm>
            <a:off x="411480" y="3712464"/>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2" name="Shape 20"/>
          <p:cNvSpPr/>
          <p:nvPr/>
        </p:nvSpPr>
        <p:spPr>
          <a:xfrm>
            <a:off x="411480" y="3712464"/>
            <a:ext cx="64008" cy="548640"/>
          </a:xfrm>
          <a:prstGeom prst="rect">
            <a:avLst/>
          </a:prstGeom>
          <a:solidFill>
            <a:srgbClr val="A855F7"/>
          </a:solidFill>
          <a:ln w="12700">
            <a:solidFill>
              <a:srgbClr val="A855F7"/>
            </a:solidFill>
            <a:prstDash val="solid"/>
          </a:ln>
        </p:spPr>
      </p:sp>
      <p:sp>
        <p:nvSpPr>
          <p:cNvPr id="23" name="Shape 21"/>
          <p:cNvSpPr/>
          <p:nvPr/>
        </p:nvSpPr>
        <p:spPr>
          <a:xfrm>
            <a:off x="548640" y="3803904"/>
            <a:ext cx="1280160" cy="365760"/>
          </a:xfrm>
          <a:prstGeom prst="rect">
            <a:avLst/>
          </a:prstGeom>
          <a:solidFill>
            <a:srgbClr val="000000"/>
          </a:solidFill>
          <a:ln w="12700">
            <a:solidFill>
              <a:srgbClr val="000000"/>
            </a:solidFill>
            <a:prstDash val="solid"/>
          </a:ln>
        </p:spPr>
      </p:sp>
      <p:sp>
        <p:nvSpPr>
          <p:cNvPr id="24" name="Text 22"/>
          <p:cNvSpPr/>
          <p:nvPr/>
        </p:nvSpPr>
        <p:spPr>
          <a:xfrm>
            <a:off x="548640" y="3803904"/>
            <a:ext cx="1280160" cy="365760"/>
          </a:xfrm>
          <a:prstGeom prst="rect">
            <a:avLst/>
          </a:prstGeom>
          <a:noFill/>
          <a:ln/>
        </p:spPr>
        <p:txBody>
          <a:bodyPr wrap="square" lIns="0" tIns="0" rIns="0" bIns="0" rtlCol="0" anchor="ctr"/>
          <a:lstStyle/>
          <a:p>
            <a:pPr algn="ctr" indent="0" marL="0">
              <a:buNone/>
            </a:pPr>
            <a:r>
              <a:rPr lang="en-US" sz="1150" b="1" dirty="0">
                <a:solidFill>
                  <a:srgbClr val="A855F7"/>
                </a:solidFill>
                <a:latin typeface="Calibri" pitchFamily="34" charset="0"/>
                <a:ea typeface="Calibri" pitchFamily="34" charset="-122"/>
                <a:cs typeface="Calibri" pitchFamily="34" charset="-120"/>
              </a:rPr>
              <a:t>Web Dev</a:t>
            </a:r>
            <a:endParaRPr lang="en-US" sz="1150" dirty="0"/>
          </a:p>
        </p:txBody>
      </p:sp>
      <p:sp>
        <p:nvSpPr>
          <p:cNvPr id="25" name="Text 23"/>
          <p:cNvSpPr/>
          <p:nvPr/>
        </p:nvSpPr>
        <p:spPr>
          <a:xfrm>
            <a:off x="1975104" y="3803904"/>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Deployed live URL + GitHub repo + short walkthrough video + API documentation</a:t>
            </a:r>
            <a:endParaRPr lang="en-US" sz="1250" dirty="0"/>
          </a:p>
        </p:txBody>
      </p:sp>
      <p:sp>
        <p:nvSpPr>
          <p:cNvPr id="26" name="Shape 24"/>
          <p:cNvSpPr/>
          <p:nvPr/>
        </p:nvSpPr>
        <p:spPr>
          <a:xfrm>
            <a:off x="411480" y="4370832"/>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27" name="Shape 25"/>
          <p:cNvSpPr/>
          <p:nvPr/>
        </p:nvSpPr>
        <p:spPr>
          <a:xfrm>
            <a:off x="411480" y="4370832"/>
            <a:ext cx="64008" cy="548640"/>
          </a:xfrm>
          <a:prstGeom prst="rect">
            <a:avLst/>
          </a:prstGeom>
          <a:solidFill>
            <a:srgbClr val="06B6D4"/>
          </a:solidFill>
          <a:ln w="12700">
            <a:solidFill>
              <a:srgbClr val="06B6D4"/>
            </a:solidFill>
            <a:prstDash val="solid"/>
          </a:ln>
        </p:spPr>
      </p:sp>
      <p:sp>
        <p:nvSpPr>
          <p:cNvPr id="28" name="Shape 26"/>
          <p:cNvSpPr/>
          <p:nvPr/>
        </p:nvSpPr>
        <p:spPr>
          <a:xfrm>
            <a:off x="548640" y="4462272"/>
            <a:ext cx="1280160" cy="365760"/>
          </a:xfrm>
          <a:prstGeom prst="rect">
            <a:avLst/>
          </a:prstGeom>
          <a:solidFill>
            <a:srgbClr val="000000"/>
          </a:solidFill>
          <a:ln w="12700">
            <a:solidFill>
              <a:srgbClr val="000000"/>
            </a:solidFill>
            <a:prstDash val="solid"/>
          </a:ln>
        </p:spPr>
      </p:sp>
      <p:sp>
        <p:nvSpPr>
          <p:cNvPr id="29" name="Text 27"/>
          <p:cNvSpPr/>
          <p:nvPr/>
        </p:nvSpPr>
        <p:spPr>
          <a:xfrm>
            <a:off x="548640" y="4462272"/>
            <a:ext cx="1280160" cy="365760"/>
          </a:xfrm>
          <a:prstGeom prst="rect">
            <a:avLst/>
          </a:prstGeom>
          <a:noFill/>
          <a:ln/>
        </p:spPr>
        <p:txBody>
          <a:bodyPr wrap="square" lIns="0" tIns="0" rIns="0" bIns="0" rtlCol="0" anchor="ctr"/>
          <a:lstStyle/>
          <a:p>
            <a:pPr algn="ctr" indent="0" marL="0">
              <a:buNone/>
            </a:pPr>
            <a:r>
              <a:rPr lang="en-US" sz="1150" b="1" dirty="0">
                <a:solidFill>
                  <a:srgbClr val="06B6D4"/>
                </a:solidFill>
                <a:latin typeface="Calibri" pitchFamily="34" charset="0"/>
                <a:ea typeface="Calibri" pitchFamily="34" charset="-122"/>
                <a:cs typeface="Calibri" pitchFamily="34" charset="-120"/>
              </a:rPr>
              <a:t>IT-Ops</a:t>
            </a:r>
            <a:endParaRPr lang="en-US" sz="1150" dirty="0"/>
          </a:p>
        </p:txBody>
      </p:sp>
      <p:sp>
        <p:nvSpPr>
          <p:cNvPr id="30" name="Text 28"/>
          <p:cNvSpPr/>
          <p:nvPr/>
        </p:nvSpPr>
        <p:spPr>
          <a:xfrm>
            <a:off x="1975104" y="4462272"/>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Runbook document + architecture diagram + automation scripts in GitHub + monitoring screenshots</a:t>
            </a:r>
            <a:endParaRPr lang="en-US" sz="1250" dirty="0"/>
          </a:p>
        </p:txBody>
      </p:sp>
      <p:sp>
        <p:nvSpPr>
          <p:cNvPr id="31" name="Shape 29"/>
          <p:cNvSpPr/>
          <p:nvPr/>
        </p:nvSpPr>
        <p:spPr>
          <a:xfrm>
            <a:off x="411480" y="5029200"/>
            <a:ext cx="8321040" cy="548640"/>
          </a:xfrm>
          <a:prstGeom prst="rect">
            <a:avLst/>
          </a:prstGeom>
          <a:solidFill>
            <a:srgbClr val="1C2333"/>
          </a:solidFill>
          <a:ln w="12700">
            <a:solidFill>
              <a:srgbClr val="30363D"/>
            </a:solidFill>
            <a:prstDash val="solid"/>
          </a:ln>
          <a:effectLst>
            <a:outerShdw sx="100000" sy="100000" kx="0" ky="0" algn="bl" rotWithShape="0" blurRad="152400" dist="25400" dir="8100000">
              <a:srgbClr val="000000">
                <a:alpha val="35000"/>
              </a:srgbClr>
            </a:outerShdw>
          </a:effectLst>
        </p:spPr>
      </p:sp>
      <p:sp>
        <p:nvSpPr>
          <p:cNvPr id="32" name="Shape 30"/>
          <p:cNvSpPr/>
          <p:nvPr/>
        </p:nvSpPr>
        <p:spPr>
          <a:xfrm>
            <a:off x="411480" y="5029200"/>
            <a:ext cx="64008" cy="548640"/>
          </a:xfrm>
          <a:prstGeom prst="rect">
            <a:avLst/>
          </a:prstGeom>
          <a:solidFill>
            <a:srgbClr val="EF4444"/>
          </a:solidFill>
          <a:ln w="12700">
            <a:solidFill>
              <a:srgbClr val="EF4444"/>
            </a:solidFill>
            <a:prstDash val="solid"/>
          </a:ln>
        </p:spPr>
      </p:sp>
      <p:sp>
        <p:nvSpPr>
          <p:cNvPr id="33" name="Shape 31"/>
          <p:cNvSpPr/>
          <p:nvPr/>
        </p:nvSpPr>
        <p:spPr>
          <a:xfrm>
            <a:off x="548640" y="5120640"/>
            <a:ext cx="1280160" cy="365760"/>
          </a:xfrm>
          <a:prstGeom prst="rect">
            <a:avLst/>
          </a:prstGeom>
          <a:solidFill>
            <a:srgbClr val="000000"/>
          </a:solidFill>
          <a:ln w="12700">
            <a:solidFill>
              <a:srgbClr val="000000"/>
            </a:solidFill>
            <a:prstDash val="solid"/>
          </a:ln>
        </p:spPr>
      </p:sp>
      <p:sp>
        <p:nvSpPr>
          <p:cNvPr id="34" name="Text 32"/>
          <p:cNvSpPr/>
          <p:nvPr/>
        </p:nvSpPr>
        <p:spPr>
          <a:xfrm>
            <a:off x="548640" y="5120640"/>
            <a:ext cx="1280160" cy="365760"/>
          </a:xfrm>
          <a:prstGeom prst="rect">
            <a:avLst/>
          </a:prstGeom>
          <a:noFill/>
          <a:ln/>
        </p:spPr>
        <p:txBody>
          <a:bodyPr wrap="square" lIns="0" tIns="0" rIns="0" bIns="0" rtlCol="0" anchor="ctr"/>
          <a:lstStyle/>
          <a:p>
            <a:pPr algn="ctr" indent="0" marL="0">
              <a:buNone/>
            </a:pPr>
            <a:r>
              <a:rPr lang="en-US" sz="1150" b="1" dirty="0">
                <a:solidFill>
                  <a:srgbClr val="EF4444"/>
                </a:solidFill>
                <a:latin typeface="Calibri" pitchFamily="34" charset="0"/>
                <a:ea typeface="Calibri" pitchFamily="34" charset="-122"/>
                <a:cs typeface="Calibri" pitchFamily="34" charset="-120"/>
              </a:rPr>
              <a:t>CS-EH</a:t>
            </a:r>
            <a:endParaRPr lang="en-US" sz="1150" dirty="0"/>
          </a:p>
        </p:txBody>
      </p:sp>
      <p:sp>
        <p:nvSpPr>
          <p:cNvPr id="35" name="Text 33"/>
          <p:cNvSpPr/>
          <p:nvPr/>
        </p:nvSpPr>
        <p:spPr>
          <a:xfrm>
            <a:off x="1975104" y="5120640"/>
            <a:ext cx="6583680" cy="365760"/>
          </a:xfrm>
          <a:prstGeom prst="rect">
            <a:avLst/>
          </a:prstGeom>
          <a:noFill/>
          <a:ln/>
        </p:spPr>
        <p:txBody>
          <a:bodyPr wrap="square" lIns="0" tIns="0" rIns="0" bIns="0" rtlCol="0" anchor="ctr"/>
          <a:lstStyle/>
          <a:p>
            <a:pPr indent="0" marL="0">
              <a:buNone/>
            </a:pPr>
            <a:r>
              <a:rPr lang="en-US" sz="1250" dirty="0">
                <a:solidFill>
                  <a:srgbClr val="E6EDF3"/>
                </a:solidFill>
                <a:latin typeface="Calibri" pitchFamily="34" charset="0"/>
                <a:ea typeface="Calibri" pitchFamily="34" charset="-122"/>
                <a:cs typeface="Calibri" pitchFamily="34" charset="-120"/>
              </a:rPr>
              <a:t>Professional security report (PDF): executive summary + technical findings + remediation roadmap</a:t>
            </a:r>
            <a:endParaRPr lang="en-US" sz="1250" dirty="0"/>
          </a:p>
        </p:txBody>
      </p:sp>
      <p:sp>
        <p:nvSpPr>
          <p:cNvPr id="36" name="Text 34"/>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502920" y="347472"/>
            <a:ext cx="2011680" cy="329184"/>
          </a:xfrm>
          <a:prstGeom prst="rect">
            <a:avLst/>
          </a:prstGeom>
          <a:solidFill>
            <a:srgbClr val="1C2333"/>
          </a:solidFill>
          <a:ln w="12700">
            <a:solidFill>
              <a:srgbClr val="30363D"/>
            </a:solidFill>
            <a:prstDash val="solid"/>
          </a:ln>
        </p:spPr>
      </p:sp>
      <p:sp>
        <p:nvSpPr>
          <p:cNvPr id="3" name="Text 1"/>
          <p:cNvSpPr/>
          <p:nvPr/>
        </p:nvSpPr>
        <p:spPr>
          <a:xfrm>
            <a:off x="502920" y="347472"/>
            <a:ext cx="2011680" cy="329184"/>
          </a:xfrm>
          <a:prstGeom prst="rect">
            <a:avLst/>
          </a:prstGeom>
          <a:noFill/>
          <a:ln/>
        </p:spPr>
        <p:txBody>
          <a:bodyPr wrap="square" lIns="0" tIns="0" rIns="0" bIns="0" rtlCol="0" anchor="ctr"/>
          <a:lstStyle/>
          <a:p>
            <a:pPr algn="ctr" indent="0" marL="0">
              <a:buNone/>
            </a:pPr>
            <a:r>
              <a:rPr lang="en-US" sz="900" b="1" spc="200" kern="0" dirty="0">
                <a:solidFill>
                  <a:srgbClr val="8B949E"/>
                </a:solidFill>
              </a:rPr>
              <a:t>ALL DOMAINS</a:t>
            </a:r>
            <a:endParaRPr lang="en-US" sz="900" dirty="0"/>
          </a:p>
        </p:txBody>
      </p:sp>
      <p:sp>
        <p:nvSpPr>
          <p:cNvPr id="4" name="Text 2"/>
          <p:cNvSpPr/>
          <p:nvPr/>
        </p:nvSpPr>
        <p:spPr>
          <a:xfrm>
            <a:off x="502920" y="786384"/>
            <a:ext cx="8138160" cy="530352"/>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Portfolio Requirement</a:t>
            </a:r>
            <a:endParaRPr lang="en-US" sz="3600" dirty="0"/>
          </a:p>
        </p:txBody>
      </p:sp>
      <p:sp>
        <p:nvSpPr>
          <p:cNvPr id="5" name="Text 3"/>
          <p:cNvSpPr/>
          <p:nvPr/>
        </p:nvSpPr>
        <p:spPr>
          <a:xfrm>
            <a:off x="502920" y="1335024"/>
            <a:ext cx="8138160" cy="292608"/>
          </a:xfrm>
          <a:prstGeom prst="rect">
            <a:avLst/>
          </a:prstGeom>
          <a:noFill/>
          <a:ln/>
        </p:spPr>
        <p:txBody>
          <a:bodyPr wrap="square" lIns="0" tIns="0" rIns="0" bIns="0" rtlCol="0" anchor="ctr"/>
          <a:lstStyle/>
          <a:p>
            <a:pPr indent="0" marL="0">
              <a:buNone/>
            </a:pPr>
            <a:r>
              <a:rPr lang="en-US" sz="1400" dirty="0">
                <a:solidFill>
                  <a:srgbClr val="8B949E"/>
                </a:solidFill>
                <a:latin typeface="Calibri" pitchFamily="34" charset="0"/>
                <a:ea typeface="Calibri" pitchFamily="34" charset="-122"/>
                <a:cs typeface="Calibri" pitchFamily="34" charset="-120"/>
              </a:rPr>
              <a:t>Every intern must complete these three items before the Day 5 final presentation.</a:t>
            </a:r>
            <a:endParaRPr lang="en-US" sz="1400" dirty="0"/>
          </a:p>
        </p:txBody>
      </p:sp>
      <p:sp>
        <p:nvSpPr>
          <p:cNvPr id="6" name="Shape 4"/>
          <p:cNvSpPr/>
          <p:nvPr/>
        </p:nvSpPr>
        <p:spPr>
          <a:xfrm>
            <a:off x="411480" y="1783080"/>
            <a:ext cx="8321040" cy="822960"/>
          </a:xfrm>
          <a:prstGeom prst="rect">
            <a:avLst/>
          </a:prstGeom>
          <a:solidFill>
            <a:srgbClr val="1C2333"/>
          </a:solidFill>
          <a:ln w="19050">
            <a:solidFill>
              <a:srgbClr val="3B82F6"/>
            </a:solidFill>
            <a:prstDash val="solid"/>
          </a:ln>
          <a:effectLst>
            <a:outerShdw sx="100000" sy="100000" kx="0" ky="0" algn="bl" rotWithShape="0" blurRad="152400" dist="25400" dir="8100000">
              <a:srgbClr val="000000">
                <a:alpha val="35000"/>
              </a:srgbClr>
            </a:outerShdw>
          </a:effectLst>
        </p:spPr>
      </p:sp>
      <p:sp>
        <p:nvSpPr>
          <p:cNvPr id="7" name="Shape 5"/>
          <p:cNvSpPr/>
          <p:nvPr/>
        </p:nvSpPr>
        <p:spPr>
          <a:xfrm>
            <a:off x="411480" y="1783080"/>
            <a:ext cx="731520" cy="822960"/>
          </a:xfrm>
          <a:prstGeom prst="rect">
            <a:avLst/>
          </a:prstGeom>
          <a:solidFill>
            <a:srgbClr val="3B82F6"/>
          </a:solidFill>
          <a:ln w="12700">
            <a:solidFill>
              <a:srgbClr val="3B82F6"/>
            </a:solidFill>
            <a:prstDash val="solid"/>
          </a:ln>
        </p:spPr>
      </p:sp>
      <p:sp>
        <p:nvSpPr>
          <p:cNvPr id="8" name="Text 6"/>
          <p:cNvSpPr/>
          <p:nvPr/>
        </p:nvSpPr>
        <p:spPr>
          <a:xfrm>
            <a:off x="411480" y="1783080"/>
            <a:ext cx="731520" cy="82296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01</a:t>
            </a:r>
            <a:endParaRPr lang="en-US" sz="2000" dirty="0"/>
          </a:p>
        </p:txBody>
      </p:sp>
      <p:sp>
        <p:nvSpPr>
          <p:cNvPr id="9" name="Text 7"/>
          <p:cNvSpPr/>
          <p:nvPr/>
        </p:nvSpPr>
        <p:spPr>
          <a:xfrm>
            <a:off x="1280160" y="1856232"/>
            <a:ext cx="7278624" cy="256032"/>
          </a:xfrm>
          <a:prstGeom prst="rect">
            <a:avLst/>
          </a:prstGeom>
          <a:noFill/>
          <a:ln/>
        </p:spPr>
        <p:txBody>
          <a:bodyPr wrap="square" lIns="0" tIns="0" rIns="0" bIns="0"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LinkedIn Updated</a:t>
            </a:r>
            <a:endParaRPr lang="en-US" sz="1500" dirty="0"/>
          </a:p>
        </p:txBody>
      </p:sp>
      <p:sp>
        <p:nvSpPr>
          <p:cNvPr id="10" name="Text 8"/>
          <p:cNvSpPr/>
          <p:nvPr/>
        </p:nvSpPr>
        <p:spPr>
          <a:xfrm>
            <a:off x="1280160" y="2148840"/>
            <a:ext cx="7278624" cy="420624"/>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Add the internship under Experience. List your domain, tools used, and the project you built. Recruiters look here first. Connect with your trainer and at least 10 professionals in your domain.</a:t>
            </a:r>
            <a:endParaRPr lang="en-US" sz="1150" dirty="0"/>
          </a:p>
        </p:txBody>
      </p:sp>
      <p:sp>
        <p:nvSpPr>
          <p:cNvPr id="11" name="Shape 9"/>
          <p:cNvSpPr/>
          <p:nvPr/>
        </p:nvSpPr>
        <p:spPr>
          <a:xfrm>
            <a:off x="411480" y="2734056"/>
            <a:ext cx="8321040" cy="822960"/>
          </a:xfrm>
          <a:prstGeom prst="rect">
            <a:avLst/>
          </a:prstGeom>
          <a:solidFill>
            <a:srgbClr val="1C2333"/>
          </a:solidFill>
          <a:ln w="19050">
            <a:solidFill>
              <a:srgbClr val="10B981"/>
            </a:solidFill>
            <a:prstDash val="solid"/>
          </a:ln>
          <a:effectLst>
            <a:outerShdw sx="100000" sy="100000" kx="0" ky="0" algn="bl" rotWithShape="0" blurRad="152400" dist="25400" dir="8100000">
              <a:srgbClr val="000000">
                <a:alpha val="35000"/>
              </a:srgbClr>
            </a:outerShdw>
          </a:effectLst>
        </p:spPr>
      </p:sp>
      <p:sp>
        <p:nvSpPr>
          <p:cNvPr id="12" name="Shape 10"/>
          <p:cNvSpPr/>
          <p:nvPr/>
        </p:nvSpPr>
        <p:spPr>
          <a:xfrm>
            <a:off x="411480" y="2734056"/>
            <a:ext cx="731520" cy="822960"/>
          </a:xfrm>
          <a:prstGeom prst="rect">
            <a:avLst/>
          </a:prstGeom>
          <a:solidFill>
            <a:srgbClr val="10B981"/>
          </a:solidFill>
          <a:ln w="12700">
            <a:solidFill>
              <a:srgbClr val="10B981"/>
            </a:solidFill>
            <a:prstDash val="solid"/>
          </a:ln>
        </p:spPr>
      </p:sp>
      <p:sp>
        <p:nvSpPr>
          <p:cNvPr id="13" name="Text 11"/>
          <p:cNvSpPr/>
          <p:nvPr/>
        </p:nvSpPr>
        <p:spPr>
          <a:xfrm>
            <a:off x="411480" y="2734056"/>
            <a:ext cx="731520" cy="82296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02</a:t>
            </a:r>
            <a:endParaRPr lang="en-US" sz="2000" dirty="0"/>
          </a:p>
        </p:txBody>
      </p:sp>
      <p:sp>
        <p:nvSpPr>
          <p:cNvPr id="14" name="Text 12"/>
          <p:cNvSpPr/>
          <p:nvPr/>
        </p:nvSpPr>
        <p:spPr>
          <a:xfrm>
            <a:off x="1280160" y="2807208"/>
            <a:ext cx="7278624" cy="256032"/>
          </a:xfrm>
          <a:prstGeom prst="rect">
            <a:avLst/>
          </a:prstGeom>
          <a:noFill/>
          <a:ln/>
        </p:spPr>
        <p:txBody>
          <a:bodyPr wrap="square" lIns="0" tIns="0" rIns="0" bIns="0" rtlCol="0" anchor="ctr"/>
          <a:lstStyle/>
          <a:p>
            <a:pPr indent="0" marL="0">
              <a:buNone/>
            </a:pPr>
            <a:r>
              <a:rPr lang="en-US" sz="1500" b="1" dirty="0">
                <a:solidFill>
                  <a:srgbClr val="10B981"/>
                </a:solidFill>
                <a:latin typeface="Calibri" pitchFamily="34" charset="0"/>
                <a:ea typeface="Calibri" pitchFamily="34" charset="-122"/>
                <a:cs typeface="Calibri" pitchFamily="34" charset="-120"/>
              </a:rPr>
              <a:t>GitHub Active</a:t>
            </a:r>
            <a:endParaRPr lang="en-US" sz="1500" dirty="0"/>
          </a:p>
        </p:txBody>
      </p:sp>
      <p:sp>
        <p:nvSpPr>
          <p:cNvPr id="15" name="Text 13"/>
          <p:cNvSpPr/>
          <p:nvPr/>
        </p:nvSpPr>
        <p:spPr>
          <a:xfrm>
            <a:off x="1280160" y="3099816"/>
            <a:ext cx="7278624" cy="420624"/>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Your project must be visible on GitHub with meaningful commit history. Green contribution squares matter. A pinned repository with a clear README is your first impression to every technical recruiter.</a:t>
            </a:r>
            <a:endParaRPr lang="en-US" sz="1150" dirty="0"/>
          </a:p>
        </p:txBody>
      </p:sp>
      <p:sp>
        <p:nvSpPr>
          <p:cNvPr id="16" name="Shape 14"/>
          <p:cNvSpPr/>
          <p:nvPr/>
        </p:nvSpPr>
        <p:spPr>
          <a:xfrm>
            <a:off x="411480" y="3685032"/>
            <a:ext cx="8321040" cy="822960"/>
          </a:xfrm>
          <a:prstGeom prst="rect">
            <a:avLst/>
          </a:prstGeom>
          <a:solidFill>
            <a:srgbClr val="1C2333"/>
          </a:solidFill>
          <a:ln w="19050">
            <a:solidFill>
              <a:srgbClr val="F59E0B"/>
            </a:solidFill>
            <a:prstDash val="solid"/>
          </a:ln>
          <a:effectLst>
            <a:outerShdw sx="100000" sy="100000" kx="0" ky="0" algn="bl" rotWithShape="0" blurRad="152400" dist="25400" dir="8100000">
              <a:srgbClr val="000000">
                <a:alpha val="35000"/>
              </a:srgbClr>
            </a:outerShdw>
          </a:effectLst>
        </p:spPr>
      </p:sp>
      <p:sp>
        <p:nvSpPr>
          <p:cNvPr id="17" name="Shape 15"/>
          <p:cNvSpPr/>
          <p:nvPr/>
        </p:nvSpPr>
        <p:spPr>
          <a:xfrm>
            <a:off x="411480" y="3685032"/>
            <a:ext cx="731520" cy="822960"/>
          </a:xfrm>
          <a:prstGeom prst="rect">
            <a:avLst/>
          </a:prstGeom>
          <a:solidFill>
            <a:srgbClr val="F59E0B"/>
          </a:solidFill>
          <a:ln w="12700">
            <a:solidFill>
              <a:srgbClr val="F59E0B"/>
            </a:solidFill>
            <a:prstDash val="solid"/>
          </a:ln>
        </p:spPr>
      </p:sp>
      <p:sp>
        <p:nvSpPr>
          <p:cNvPr id="18" name="Text 16"/>
          <p:cNvSpPr/>
          <p:nvPr/>
        </p:nvSpPr>
        <p:spPr>
          <a:xfrm>
            <a:off x="411480" y="3685032"/>
            <a:ext cx="731520" cy="822960"/>
          </a:xfrm>
          <a:prstGeom prst="rect">
            <a:avLst/>
          </a:prstGeom>
          <a:noFill/>
          <a:ln/>
        </p:spPr>
        <p:txBody>
          <a:bodyPr wrap="square" lIns="0" tIns="0" rIns="0" bIns="0" rtlCol="0" anchor="ctr"/>
          <a:lstStyle/>
          <a:p>
            <a:pPr algn="ctr" indent="0" marL="0">
              <a:buNone/>
            </a:pPr>
            <a:r>
              <a:rPr lang="en-US" sz="2000" b="1" dirty="0">
                <a:solidFill>
                  <a:srgbClr val="0D1117"/>
                </a:solidFill>
                <a:latin typeface="Calibri" pitchFamily="34" charset="0"/>
                <a:ea typeface="Calibri" pitchFamily="34" charset="-122"/>
                <a:cs typeface="Calibri" pitchFamily="34" charset="-120"/>
              </a:rPr>
              <a:t>03</a:t>
            </a:r>
            <a:endParaRPr lang="en-US" sz="2000" dirty="0"/>
          </a:p>
        </p:txBody>
      </p:sp>
      <p:sp>
        <p:nvSpPr>
          <p:cNvPr id="19" name="Text 17"/>
          <p:cNvSpPr/>
          <p:nvPr/>
        </p:nvSpPr>
        <p:spPr>
          <a:xfrm>
            <a:off x="1280160" y="3758184"/>
            <a:ext cx="7278624" cy="256032"/>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Resume-Ready Project Description</a:t>
            </a:r>
            <a:endParaRPr lang="en-US" sz="1500" dirty="0"/>
          </a:p>
        </p:txBody>
      </p:sp>
      <p:sp>
        <p:nvSpPr>
          <p:cNvPr id="20" name="Text 18"/>
          <p:cNvSpPr/>
          <p:nvPr/>
        </p:nvSpPr>
        <p:spPr>
          <a:xfrm>
            <a:off x="1280160" y="4050792"/>
            <a:ext cx="7278624" cy="420624"/>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Write 2–3 bullet points describing your project for a resume. Format: action verb + what you built + technology used + measurable outcome. Example: 'Built an AI-powered job fit analyser using Python and OpenAI API, reducing manual skill-gap review time by 70%.'</a:t>
            </a:r>
            <a:endParaRPr lang="en-US" sz="1150" dirty="0"/>
          </a:p>
        </p:txBody>
      </p:sp>
      <p:sp>
        <p:nvSpPr>
          <p:cNvPr id="21" name="Text 19"/>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502920" y="274320"/>
            <a:ext cx="8229600" cy="137160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Three Phases.</a:t>
            </a:r>
            <a:endParaRPr lang="en-US" sz="5200" dirty="0"/>
          </a:p>
          <a:p>
            <a:pPr indent="0" marL="0">
              <a:buNone/>
            </a:pPr>
            <a:r>
              <a:rPr lang="en-US" sz="5200" b="1" dirty="0">
                <a:solidFill>
                  <a:srgbClr val="FFFFFF"/>
                </a:solidFill>
                <a:latin typeface="Calibri" pitchFamily="34" charset="0"/>
                <a:ea typeface="Calibri" pitchFamily="34" charset="-122"/>
                <a:cs typeface="Calibri" pitchFamily="34" charset="-120"/>
              </a:rPr>
              <a:t>One Outcome.</a:t>
            </a:r>
            <a:endParaRPr lang="en-US" sz="5200" dirty="0"/>
          </a:p>
        </p:txBody>
      </p:sp>
      <p:sp>
        <p:nvSpPr>
          <p:cNvPr id="3" name="Text 1"/>
          <p:cNvSpPr/>
          <p:nvPr/>
        </p:nvSpPr>
        <p:spPr>
          <a:xfrm>
            <a:off x="502920" y="1719072"/>
            <a:ext cx="8229600" cy="347472"/>
          </a:xfrm>
          <a:prstGeom prst="rect">
            <a:avLst/>
          </a:prstGeom>
          <a:noFill/>
          <a:ln/>
        </p:spPr>
        <p:txBody>
          <a:bodyPr wrap="square" lIns="0" tIns="0" rIns="0" bIns="0" rtlCol="0" anchor="ctr"/>
          <a:lstStyle/>
          <a:p>
            <a:pPr indent="0" marL="0">
              <a:buNone/>
            </a:pPr>
            <a:r>
              <a:rPr lang="en-US" sz="1600" dirty="0">
                <a:solidFill>
                  <a:srgbClr val="8B949E"/>
                </a:solidFill>
                <a:latin typeface="Calibri" pitchFamily="34" charset="0"/>
                <a:ea typeface="Calibri" pitchFamily="34" charset="-122"/>
                <a:cs typeface="Calibri" pitchFamily="34" charset="-120"/>
              </a:rPr>
              <a:t>Build something real. Present it professionally. Leave with a portfolio.</a:t>
            </a:r>
            <a:endParaRPr lang="en-US" sz="1600" dirty="0"/>
          </a:p>
        </p:txBody>
      </p:sp>
      <p:sp>
        <p:nvSpPr>
          <p:cNvPr id="4" name="Shape 2"/>
          <p:cNvSpPr/>
          <p:nvPr/>
        </p:nvSpPr>
        <p:spPr>
          <a:xfrm>
            <a:off x="411480" y="2240280"/>
            <a:ext cx="2633472" cy="2423160"/>
          </a:xfrm>
          <a:prstGeom prst="rect">
            <a:avLst/>
          </a:prstGeom>
          <a:solidFill>
            <a:srgbClr val="1C2333"/>
          </a:solidFill>
          <a:ln w="19050">
            <a:solidFill>
              <a:srgbClr val="3B82F6"/>
            </a:solidFill>
            <a:prstDash val="solid"/>
          </a:ln>
          <a:effectLst>
            <a:outerShdw sx="100000" sy="100000" kx="0" ky="0" algn="bl" rotWithShape="0" blurRad="152400" dist="25400" dir="8100000">
              <a:srgbClr val="000000">
                <a:alpha val="35000"/>
              </a:srgbClr>
            </a:outerShdw>
          </a:effectLst>
        </p:spPr>
      </p:sp>
      <p:sp>
        <p:nvSpPr>
          <p:cNvPr id="5" name="Shape 3"/>
          <p:cNvSpPr/>
          <p:nvPr/>
        </p:nvSpPr>
        <p:spPr>
          <a:xfrm>
            <a:off x="411480" y="2240280"/>
            <a:ext cx="2633472" cy="475488"/>
          </a:xfrm>
          <a:prstGeom prst="rect">
            <a:avLst/>
          </a:prstGeom>
          <a:solidFill>
            <a:srgbClr val="3B82F6"/>
          </a:solidFill>
          <a:ln w="12700">
            <a:solidFill>
              <a:srgbClr val="3B82F6"/>
            </a:solidFill>
            <a:prstDash val="solid"/>
          </a:ln>
        </p:spPr>
      </p:sp>
      <p:sp>
        <p:nvSpPr>
          <p:cNvPr id="6" name="Text 4"/>
          <p:cNvSpPr/>
          <p:nvPr/>
        </p:nvSpPr>
        <p:spPr>
          <a:xfrm>
            <a:off x="411480" y="2240280"/>
            <a:ext cx="2633472" cy="475488"/>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Phase 01  —  Blueprint</a:t>
            </a:r>
            <a:endParaRPr lang="en-US" sz="1400" dirty="0"/>
          </a:p>
        </p:txBody>
      </p:sp>
      <p:sp>
        <p:nvSpPr>
          <p:cNvPr id="7" name="Text 5"/>
          <p:cNvSpPr/>
          <p:nvPr/>
        </p:nvSpPr>
        <p:spPr>
          <a:xfrm>
            <a:off x="548640" y="2816352"/>
            <a:ext cx="2359152"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Week 1 of Project Phase</a:t>
            </a:r>
            <a:endParaRPr lang="en-US" sz="1100" dirty="0"/>
          </a:p>
        </p:txBody>
      </p:sp>
      <p:sp>
        <p:nvSpPr>
          <p:cNvPr id="8" name="Text 6"/>
          <p:cNvSpPr/>
          <p:nvPr/>
        </p:nvSpPr>
        <p:spPr>
          <a:xfrm>
            <a:off x="548640" y="3154680"/>
            <a:ext cx="2359152" cy="219456"/>
          </a:xfrm>
          <a:prstGeom prst="rect">
            <a:avLst/>
          </a:prstGeom>
          <a:noFill/>
          <a:ln/>
        </p:spPr>
        <p:txBody>
          <a:bodyPr wrap="square" lIns="0" tIns="0" rIns="0" bIns="0" rtlCol="0" anchor="ctr"/>
          <a:lstStyle/>
          <a:p>
            <a:pPr indent="0" marL="0">
              <a:buNone/>
            </a:pPr>
            <a:r>
              <a:rPr lang="en-US" sz="1100" b="1" dirty="0">
                <a:solidFill>
                  <a:srgbClr val="93C5FD"/>
                </a:solidFill>
                <a:latin typeface="Calibri" pitchFamily="34" charset="0"/>
                <a:ea typeface="Calibri" pitchFamily="34" charset="-122"/>
                <a:cs typeface="Calibri" pitchFamily="34" charset="-120"/>
              </a:rPr>
              <a:t>Output:</a:t>
            </a:r>
            <a:endParaRPr lang="en-US" sz="1100" dirty="0"/>
          </a:p>
        </p:txBody>
      </p:sp>
      <p:sp>
        <p:nvSpPr>
          <p:cNvPr id="9" name="Text 7"/>
          <p:cNvSpPr/>
          <p:nvPr/>
        </p:nvSpPr>
        <p:spPr>
          <a:xfrm>
            <a:off x="548640" y="3374136"/>
            <a:ext cx="2359152" cy="402336"/>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Approved Blueprint Document</a:t>
            </a:r>
            <a:endParaRPr lang="en-US" sz="1150" dirty="0"/>
          </a:p>
        </p:txBody>
      </p:sp>
      <p:sp>
        <p:nvSpPr>
          <p:cNvPr id="10" name="Shape 8"/>
          <p:cNvSpPr/>
          <p:nvPr/>
        </p:nvSpPr>
        <p:spPr>
          <a:xfrm>
            <a:off x="548640" y="3803904"/>
            <a:ext cx="2359152" cy="0"/>
          </a:xfrm>
          <a:prstGeom prst="line">
            <a:avLst/>
          </a:prstGeom>
          <a:noFill/>
          <a:ln w="12700">
            <a:solidFill>
              <a:srgbClr val="30363D"/>
            </a:solidFill>
            <a:prstDash val="solid"/>
          </a:ln>
        </p:spPr>
      </p:sp>
      <p:sp>
        <p:nvSpPr>
          <p:cNvPr id="11" name="Text 9"/>
          <p:cNvSpPr/>
          <p:nvPr/>
        </p:nvSpPr>
        <p:spPr>
          <a:xfrm>
            <a:off x="548640" y="3877056"/>
            <a:ext cx="2359152" cy="201168"/>
          </a:xfrm>
          <a:prstGeom prst="rect">
            <a:avLst/>
          </a:prstGeom>
          <a:noFill/>
          <a:ln/>
        </p:spPr>
        <p:txBody>
          <a:bodyPr wrap="square" lIns="0" tIns="0" rIns="0" bIns="0" rtlCol="0" anchor="ctr"/>
          <a:lstStyle/>
          <a:p>
            <a:pPr indent="0" marL="0">
              <a:buNone/>
            </a:pPr>
            <a:r>
              <a:rPr lang="en-US" sz="1050" b="1" dirty="0">
                <a:solidFill>
                  <a:srgbClr val="3B82F6"/>
                </a:solidFill>
                <a:latin typeface="Calibri" pitchFamily="34" charset="0"/>
                <a:ea typeface="Calibri" pitchFamily="34" charset="-122"/>
                <a:cs typeface="Calibri" pitchFamily="34" charset="-120"/>
              </a:rPr>
              <a:t>Gate:</a:t>
            </a:r>
            <a:endParaRPr lang="en-US" sz="1050" dirty="0"/>
          </a:p>
        </p:txBody>
      </p:sp>
      <p:sp>
        <p:nvSpPr>
          <p:cNvPr id="12" name="Text 10"/>
          <p:cNvSpPr/>
          <p:nvPr/>
        </p:nvSpPr>
        <p:spPr>
          <a:xfrm>
            <a:off x="548640" y="4078224"/>
            <a:ext cx="2359152" cy="3657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Trainer sign-off required</a:t>
            </a:r>
            <a:endParaRPr lang="en-US" sz="1100" dirty="0"/>
          </a:p>
        </p:txBody>
      </p:sp>
      <p:sp>
        <p:nvSpPr>
          <p:cNvPr id="13" name="Shape 11"/>
          <p:cNvSpPr/>
          <p:nvPr/>
        </p:nvSpPr>
        <p:spPr>
          <a:xfrm>
            <a:off x="3264408" y="2240280"/>
            <a:ext cx="2633472" cy="2423160"/>
          </a:xfrm>
          <a:prstGeom prst="rect">
            <a:avLst/>
          </a:prstGeom>
          <a:solidFill>
            <a:srgbClr val="1C2333"/>
          </a:solidFill>
          <a:ln w="19050">
            <a:solidFill>
              <a:srgbClr val="10B981"/>
            </a:solidFill>
            <a:prstDash val="solid"/>
          </a:ln>
          <a:effectLst>
            <a:outerShdw sx="100000" sy="100000" kx="0" ky="0" algn="bl" rotWithShape="0" blurRad="152400" dist="25400" dir="8100000">
              <a:srgbClr val="000000">
                <a:alpha val="35000"/>
              </a:srgbClr>
            </a:outerShdw>
          </a:effectLst>
        </p:spPr>
      </p:sp>
      <p:sp>
        <p:nvSpPr>
          <p:cNvPr id="14" name="Shape 12"/>
          <p:cNvSpPr/>
          <p:nvPr/>
        </p:nvSpPr>
        <p:spPr>
          <a:xfrm>
            <a:off x="3264408" y="2240280"/>
            <a:ext cx="2633472" cy="475488"/>
          </a:xfrm>
          <a:prstGeom prst="rect">
            <a:avLst/>
          </a:prstGeom>
          <a:solidFill>
            <a:srgbClr val="10B981"/>
          </a:solidFill>
          <a:ln w="12700">
            <a:solidFill>
              <a:srgbClr val="10B981"/>
            </a:solidFill>
            <a:prstDash val="solid"/>
          </a:ln>
        </p:spPr>
      </p:sp>
      <p:sp>
        <p:nvSpPr>
          <p:cNvPr id="15" name="Text 13"/>
          <p:cNvSpPr/>
          <p:nvPr/>
        </p:nvSpPr>
        <p:spPr>
          <a:xfrm>
            <a:off x="3264408" y="2240280"/>
            <a:ext cx="2633472" cy="475488"/>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Phase 02  —  Build</a:t>
            </a:r>
            <a:endParaRPr lang="en-US" sz="1400" dirty="0"/>
          </a:p>
        </p:txBody>
      </p:sp>
      <p:sp>
        <p:nvSpPr>
          <p:cNvPr id="16" name="Text 14"/>
          <p:cNvSpPr/>
          <p:nvPr/>
        </p:nvSpPr>
        <p:spPr>
          <a:xfrm>
            <a:off x="3401568" y="2816352"/>
            <a:ext cx="2359152"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Week 2 of Project Phase</a:t>
            </a:r>
            <a:endParaRPr lang="en-US" sz="1100" dirty="0"/>
          </a:p>
        </p:txBody>
      </p:sp>
      <p:sp>
        <p:nvSpPr>
          <p:cNvPr id="17" name="Text 15"/>
          <p:cNvSpPr/>
          <p:nvPr/>
        </p:nvSpPr>
        <p:spPr>
          <a:xfrm>
            <a:off x="3401568" y="3154680"/>
            <a:ext cx="2359152" cy="219456"/>
          </a:xfrm>
          <a:prstGeom prst="rect">
            <a:avLst/>
          </a:prstGeom>
          <a:noFill/>
          <a:ln/>
        </p:spPr>
        <p:txBody>
          <a:bodyPr wrap="square" lIns="0" tIns="0" rIns="0" bIns="0" rtlCol="0" anchor="ctr"/>
          <a:lstStyle/>
          <a:p>
            <a:pPr indent="0" marL="0">
              <a:buNone/>
            </a:pPr>
            <a:r>
              <a:rPr lang="en-US" sz="1100" b="1" dirty="0">
                <a:solidFill>
                  <a:srgbClr val="6EE7B7"/>
                </a:solidFill>
                <a:latin typeface="Calibri" pitchFamily="34" charset="0"/>
                <a:ea typeface="Calibri" pitchFamily="34" charset="-122"/>
                <a:cs typeface="Calibri" pitchFamily="34" charset="-120"/>
              </a:rPr>
              <a:t>Output:</a:t>
            </a:r>
            <a:endParaRPr lang="en-US" sz="1100" dirty="0"/>
          </a:p>
        </p:txBody>
      </p:sp>
      <p:sp>
        <p:nvSpPr>
          <p:cNvPr id="18" name="Text 16"/>
          <p:cNvSpPr/>
          <p:nvPr/>
        </p:nvSpPr>
        <p:spPr>
          <a:xfrm>
            <a:off x="3401568" y="3374136"/>
            <a:ext cx="2359152" cy="402336"/>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Working project — code, analysis, or report</a:t>
            </a:r>
            <a:endParaRPr lang="en-US" sz="1150" dirty="0"/>
          </a:p>
        </p:txBody>
      </p:sp>
      <p:sp>
        <p:nvSpPr>
          <p:cNvPr id="19" name="Shape 17"/>
          <p:cNvSpPr/>
          <p:nvPr/>
        </p:nvSpPr>
        <p:spPr>
          <a:xfrm>
            <a:off x="3401568" y="3803904"/>
            <a:ext cx="2359152" cy="0"/>
          </a:xfrm>
          <a:prstGeom prst="line">
            <a:avLst/>
          </a:prstGeom>
          <a:noFill/>
          <a:ln w="12700">
            <a:solidFill>
              <a:srgbClr val="30363D"/>
            </a:solidFill>
            <a:prstDash val="solid"/>
          </a:ln>
        </p:spPr>
      </p:sp>
      <p:sp>
        <p:nvSpPr>
          <p:cNvPr id="20" name="Text 18"/>
          <p:cNvSpPr/>
          <p:nvPr/>
        </p:nvSpPr>
        <p:spPr>
          <a:xfrm>
            <a:off x="3401568" y="3877056"/>
            <a:ext cx="2359152" cy="201168"/>
          </a:xfrm>
          <a:prstGeom prst="rect">
            <a:avLst/>
          </a:prstGeom>
          <a:noFill/>
          <a:ln/>
        </p:spPr>
        <p:txBody>
          <a:bodyPr wrap="square" lIns="0" tIns="0" rIns="0" bIns="0" rtlCol="0" anchor="ctr"/>
          <a:lstStyle/>
          <a:p>
            <a:pPr indent="0" marL="0">
              <a:buNone/>
            </a:pPr>
            <a:r>
              <a:rPr lang="en-US" sz="1050" b="1" dirty="0">
                <a:solidFill>
                  <a:srgbClr val="10B981"/>
                </a:solidFill>
                <a:latin typeface="Calibri" pitchFamily="34" charset="0"/>
                <a:ea typeface="Calibri" pitchFamily="34" charset="-122"/>
                <a:cs typeface="Calibri" pitchFamily="34" charset="-120"/>
              </a:rPr>
              <a:t>Gate:</a:t>
            </a:r>
            <a:endParaRPr lang="en-US" sz="1050" dirty="0"/>
          </a:p>
        </p:txBody>
      </p:sp>
      <p:sp>
        <p:nvSpPr>
          <p:cNvPr id="21" name="Text 19"/>
          <p:cNvSpPr/>
          <p:nvPr/>
        </p:nvSpPr>
        <p:spPr>
          <a:xfrm>
            <a:off x="3401568" y="4078224"/>
            <a:ext cx="2359152" cy="3657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Something real must exist</a:t>
            </a:r>
            <a:endParaRPr lang="en-US" sz="1100" dirty="0"/>
          </a:p>
        </p:txBody>
      </p:sp>
      <p:sp>
        <p:nvSpPr>
          <p:cNvPr id="22" name="Shape 20"/>
          <p:cNvSpPr/>
          <p:nvPr/>
        </p:nvSpPr>
        <p:spPr>
          <a:xfrm>
            <a:off x="6117336" y="2240280"/>
            <a:ext cx="2633472" cy="2423160"/>
          </a:xfrm>
          <a:prstGeom prst="rect">
            <a:avLst/>
          </a:prstGeom>
          <a:solidFill>
            <a:srgbClr val="1C2333"/>
          </a:solidFill>
          <a:ln w="19050">
            <a:solidFill>
              <a:srgbClr val="F59E0B"/>
            </a:solidFill>
            <a:prstDash val="solid"/>
          </a:ln>
          <a:effectLst>
            <a:outerShdw sx="100000" sy="100000" kx="0" ky="0" algn="bl" rotWithShape="0" blurRad="152400" dist="25400" dir="8100000">
              <a:srgbClr val="000000">
                <a:alpha val="35000"/>
              </a:srgbClr>
            </a:outerShdw>
          </a:effectLst>
        </p:spPr>
      </p:sp>
      <p:sp>
        <p:nvSpPr>
          <p:cNvPr id="23" name="Shape 21"/>
          <p:cNvSpPr/>
          <p:nvPr/>
        </p:nvSpPr>
        <p:spPr>
          <a:xfrm>
            <a:off x="6117336" y="2240280"/>
            <a:ext cx="2633472" cy="475488"/>
          </a:xfrm>
          <a:prstGeom prst="rect">
            <a:avLst/>
          </a:prstGeom>
          <a:solidFill>
            <a:srgbClr val="F59E0B"/>
          </a:solidFill>
          <a:ln w="12700">
            <a:solidFill>
              <a:srgbClr val="F59E0B"/>
            </a:solidFill>
            <a:prstDash val="solid"/>
          </a:ln>
        </p:spPr>
      </p:sp>
      <p:sp>
        <p:nvSpPr>
          <p:cNvPr id="24" name="Text 22"/>
          <p:cNvSpPr/>
          <p:nvPr/>
        </p:nvSpPr>
        <p:spPr>
          <a:xfrm>
            <a:off x="6117336" y="2240280"/>
            <a:ext cx="2633472" cy="475488"/>
          </a:xfrm>
          <a:prstGeom prst="rect">
            <a:avLst/>
          </a:prstGeom>
          <a:noFill/>
          <a:ln/>
        </p:spPr>
        <p:txBody>
          <a:bodyPr wrap="square" lIns="0" tIns="0" rIns="0" bIns="0" rtlCol="0" anchor="ctr"/>
          <a:lstStyle/>
          <a:p>
            <a:pPr algn="ctr" indent="0" marL="0">
              <a:buNone/>
            </a:pPr>
            <a:r>
              <a:rPr lang="en-US" sz="1400" b="1" dirty="0">
                <a:solidFill>
                  <a:srgbClr val="0D1117"/>
                </a:solidFill>
                <a:latin typeface="Calibri" pitchFamily="34" charset="0"/>
                <a:ea typeface="Calibri" pitchFamily="34" charset="-122"/>
                <a:cs typeface="Calibri" pitchFamily="34" charset="-120"/>
              </a:rPr>
              <a:t>Phase 03  —  Present</a:t>
            </a:r>
            <a:endParaRPr lang="en-US" sz="1400" dirty="0"/>
          </a:p>
        </p:txBody>
      </p:sp>
      <p:sp>
        <p:nvSpPr>
          <p:cNvPr id="25" name="Text 23"/>
          <p:cNvSpPr/>
          <p:nvPr/>
        </p:nvSpPr>
        <p:spPr>
          <a:xfrm>
            <a:off x="6254496" y="2816352"/>
            <a:ext cx="2359152" cy="27432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Week 3 of Project Phase</a:t>
            </a:r>
            <a:endParaRPr lang="en-US" sz="1100" dirty="0"/>
          </a:p>
        </p:txBody>
      </p:sp>
      <p:sp>
        <p:nvSpPr>
          <p:cNvPr id="26" name="Text 24"/>
          <p:cNvSpPr/>
          <p:nvPr/>
        </p:nvSpPr>
        <p:spPr>
          <a:xfrm>
            <a:off x="6254496" y="3154680"/>
            <a:ext cx="2359152" cy="219456"/>
          </a:xfrm>
          <a:prstGeom prst="rect">
            <a:avLst/>
          </a:prstGeom>
          <a:noFill/>
          <a:ln/>
        </p:spPr>
        <p:txBody>
          <a:bodyPr wrap="square" lIns="0" tIns="0" rIns="0" bIns="0" rtlCol="0" anchor="ctr"/>
          <a:lstStyle/>
          <a:p>
            <a:pPr indent="0" marL="0">
              <a:buNone/>
            </a:pPr>
            <a:r>
              <a:rPr lang="en-US" sz="1100" b="1" dirty="0">
                <a:solidFill>
                  <a:srgbClr val="FCD34D"/>
                </a:solidFill>
                <a:latin typeface="Calibri" pitchFamily="34" charset="0"/>
                <a:ea typeface="Calibri" pitchFamily="34" charset="-122"/>
                <a:cs typeface="Calibri" pitchFamily="34" charset="-120"/>
              </a:rPr>
              <a:t>Output:</a:t>
            </a:r>
            <a:endParaRPr lang="en-US" sz="1100" dirty="0"/>
          </a:p>
        </p:txBody>
      </p:sp>
      <p:sp>
        <p:nvSpPr>
          <p:cNvPr id="27" name="Text 25"/>
          <p:cNvSpPr/>
          <p:nvPr/>
        </p:nvSpPr>
        <p:spPr>
          <a:xfrm>
            <a:off x="6254496" y="3374136"/>
            <a:ext cx="2359152" cy="402336"/>
          </a:xfrm>
          <a:prstGeom prst="rect">
            <a:avLst/>
          </a:prstGeom>
          <a:noFill/>
          <a:ln/>
        </p:spPr>
        <p:txBody>
          <a:bodyPr wrap="square" lIns="0" tIns="0" rIns="0" bIns="0" rtlCol="0" anchor="ctr"/>
          <a:lstStyle/>
          <a:p>
            <a:pPr indent="0" marL="0">
              <a:buNone/>
            </a:pPr>
            <a:r>
              <a:rPr lang="en-US" sz="1150" dirty="0">
                <a:solidFill>
                  <a:srgbClr val="E6EDF3"/>
                </a:solidFill>
                <a:latin typeface="Calibri" pitchFamily="34" charset="0"/>
                <a:ea typeface="Calibri" pitchFamily="34" charset="-122"/>
                <a:cs typeface="Calibri" pitchFamily="34" charset="-120"/>
              </a:rPr>
              <a:t>Professional presentation + portfolio output</a:t>
            </a:r>
            <a:endParaRPr lang="en-US" sz="1150" dirty="0"/>
          </a:p>
        </p:txBody>
      </p:sp>
      <p:sp>
        <p:nvSpPr>
          <p:cNvPr id="28" name="Shape 26"/>
          <p:cNvSpPr/>
          <p:nvPr/>
        </p:nvSpPr>
        <p:spPr>
          <a:xfrm>
            <a:off x="6254496" y="3803904"/>
            <a:ext cx="2359152" cy="0"/>
          </a:xfrm>
          <a:prstGeom prst="line">
            <a:avLst/>
          </a:prstGeom>
          <a:noFill/>
          <a:ln w="12700">
            <a:solidFill>
              <a:srgbClr val="30363D"/>
            </a:solidFill>
            <a:prstDash val="solid"/>
          </a:ln>
        </p:spPr>
      </p:sp>
      <p:sp>
        <p:nvSpPr>
          <p:cNvPr id="29" name="Text 27"/>
          <p:cNvSpPr/>
          <p:nvPr/>
        </p:nvSpPr>
        <p:spPr>
          <a:xfrm>
            <a:off x="6254496" y="3877056"/>
            <a:ext cx="2359152" cy="201168"/>
          </a:xfrm>
          <a:prstGeom prst="rect">
            <a:avLst/>
          </a:prstGeom>
          <a:noFill/>
          <a:ln/>
        </p:spPr>
        <p:txBody>
          <a:bodyPr wrap="square" lIns="0" tIns="0" rIns="0" bIns="0" rtlCol="0" anchor="ctr"/>
          <a:lstStyle/>
          <a:p>
            <a:pPr indent="0" marL="0">
              <a:buNone/>
            </a:pPr>
            <a:r>
              <a:rPr lang="en-US" sz="1050" b="1" dirty="0">
                <a:solidFill>
                  <a:srgbClr val="F59E0B"/>
                </a:solidFill>
                <a:latin typeface="Calibri" pitchFamily="34" charset="0"/>
                <a:ea typeface="Calibri" pitchFamily="34" charset="-122"/>
                <a:cs typeface="Calibri" pitchFamily="34" charset="-120"/>
              </a:rPr>
              <a:t>Gate:</a:t>
            </a:r>
            <a:endParaRPr lang="en-US" sz="1050" dirty="0"/>
          </a:p>
        </p:txBody>
      </p:sp>
      <p:sp>
        <p:nvSpPr>
          <p:cNvPr id="30" name="Text 28"/>
          <p:cNvSpPr/>
          <p:nvPr/>
        </p:nvSpPr>
        <p:spPr>
          <a:xfrm>
            <a:off x="6254496" y="4078224"/>
            <a:ext cx="2359152" cy="365760"/>
          </a:xfrm>
          <a:prstGeom prst="rect">
            <a:avLst/>
          </a:prstGeom>
          <a:noFill/>
          <a:ln/>
        </p:spPr>
        <p:txBody>
          <a:bodyPr wrap="square" lIns="0" tIns="0" rIns="0" bIns="0" rtlCol="0" anchor="ctr"/>
          <a:lstStyle/>
          <a:p>
            <a:pPr indent="0" marL="0">
              <a:buNone/>
            </a:pPr>
            <a:r>
              <a:rPr lang="en-US" sz="1100" dirty="0">
                <a:solidFill>
                  <a:srgbClr val="8B949E"/>
                </a:solidFill>
                <a:latin typeface="Calibri" pitchFamily="34" charset="0"/>
                <a:ea typeface="Calibri" pitchFamily="34" charset="-122"/>
                <a:cs typeface="Calibri" pitchFamily="34" charset="-120"/>
              </a:rPr>
              <a:t>Final presentation delivered</a:t>
            </a:r>
            <a:endParaRPr lang="en-US" sz="1100" dirty="0"/>
          </a:p>
        </p:txBody>
      </p:sp>
      <p:sp>
        <p:nvSpPr>
          <p:cNvPr id="31" name="Text 29"/>
          <p:cNvSpPr/>
          <p:nvPr/>
        </p:nvSpPr>
        <p:spPr>
          <a:xfrm>
            <a:off x="502920" y="4919472"/>
            <a:ext cx="8138160" cy="182880"/>
          </a:xfrm>
          <a:prstGeom prst="rect">
            <a:avLst/>
          </a:prstGeom>
          <a:noFill/>
          <a:ln/>
        </p:spPr>
        <p:txBody>
          <a:bodyPr wrap="square" lIns="0" tIns="0" rIns="0" bIns="0" rtlCol="0" anchor="ctr"/>
          <a:lstStyle/>
          <a:p>
            <a:pPr algn="r" indent="0" marL="0">
              <a:buNone/>
            </a:pPr>
            <a:r>
              <a:rPr lang="en-US" sz="850" dirty="0">
                <a:solidFill>
                  <a:srgbClr val="484F58"/>
                </a:solidFill>
                <a:latin typeface="Calibri" pitchFamily="34" charset="0"/>
                <a:ea typeface="Calibri" pitchFamily="34" charset="-122"/>
                <a:cs typeface="Calibri" pitchFamily="34" charset="-120"/>
              </a:rPr>
              <a:t>Rooman Technologies  |  Internship Project Phase Guide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2026-04-28T10:02:53Z</dcterms:created>
  <dcterms:modified xsi:type="dcterms:W3CDTF">2026-04-28T10:02:53Z</dcterms:modified>
</cp:coreProperties>
</file>